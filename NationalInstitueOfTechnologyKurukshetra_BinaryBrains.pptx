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TAN Mon Cheri" charset="1" panose="00000000000000000000"/>
      <p:regular r:id="rId12"/>
    </p:embeddedFont>
    <p:embeddedFont>
      <p:font typeface="DM Sans" charset="1" panose="000000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jpe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1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2" Target="../media/image17.jpeg" Type="http://schemas.openxmlformats.org/officeDocument/2006/relationships/image"/><Relationship Id="rId3" Target="../media/image18.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93" r="0" b="-793"/>
            </a:stretch>
          </a:blipFill>
        </p:spPr>
      </p:sp>
      <p:sp>
        <p:nvSpPr>
          <p:cNvPr name="TextBox 3" id="3"/>
          <p:cNvSpPr txBox="true"/>
          <p:nvPr/>
        </p:nvSpPr>
        <p:spPr>
          <a:xfrm rot="0">
            <a:off x="5345025" y="7397707"/>
            <a:ext cx="7927733" cy="523875"/>
          </a:xfrm>
          <a:prstGeom prst="rect">
            <a:avLst/>
          </a:prstGeom>
        </p:spPr>
        <p:txBody>
          <a:bodyPr anchor="t" rtlCol="false" tIns="0" lIns="0" bIns="0" rIns="0">
            <a:spAutoFit/>
          </a:bodyPr>
          <a:lstStyle/>
          <a:p>
            <a:pPr algn="l">
              <a:lnSpc>
                <a:spcPts val="4200"/>
              </a:lnSpc>
            </a:pPr>
            <a:r>
              <a:rPr lang="en-US" sz="3000" spc="144" u="sng">
                <a:solidFill>
                  <a:srgbClr val="000000"/>
                </a:solidFill>
                <a:latin typeface="TAN Mon Cheri"/>
                <a:ea typeface="TAN Mon Cheri"/>
                <a:cs typeface="TAN Mon Cheri"/>
                <a:sym typeface="TAN Mon Cheri"/>
              </a:rPr>
              <a:t>Team Name</a:t>
            </a:r>
            <a:r>
              <a:rPr lang="en-US" sz="3000" spc="144">
                <a:solidFill>
                  <a:srgbClr val="000000"/>
                </a:solidFill>
                <a:latin typeface="TAN Mon Cheri"/>
                <a:ea typeface="TAN Mon Cheri"/>
                <a:cs typeface="TAN Mon Cheri"/>
                <a:sym typeface="TAN Mon Cheri"/>
              </a:rPr>
              <a:t> :         Binary Brains</a:t>
            </a:r>
          </a:p>
        </p:txBody>
      </p:sp>
      <p:sp>
        <p:nvSpPr>
          <p:cNvPr name="TextBox 4" id="4"/>
          <p:cNvSpPr txBox="true"/>
          <p:nvPr/>
        </p:nvSpPr>
        <p:spPr>
          <a:xfrm rot="0">
            <a:off x="5345025" y="8345623"/>
            <a:ext cx="4276248" cy="1057274"/>
          </a:xfrm>
          <a:prstGeom prst="rect">
            <a:avLst/>
          </a:prstGeom>
        </p:spPr>
        <p:txBody>
          <a:bodyPr anchor="t" rtlCol="false" tIns="0" lIns="0" bIns="0" rIns="0">
            <a:spAutoFit/>
          </a:bodyPr>
          <a:lstStyle/>
          <a:p>
            <a:pPr algn="l">
              <a:lnSpc>
                <a:spcPts val="4200"/>
              </a:lnSpc>
            </a:pPr>
            <a:r>
              <a:rPr lang="en-US" sz="3000" spc="144" u="sng">
                <a:solidFill>
                  <a:srgbClr val="000000"/>
                </a:solidFill>
                <a:latin typeface="TAN Mon Cheri"/>
                <a:ea typeface="TAN Mon Cheri"/>
                <a:cs typeface="TAN Mon Cheri"/>
                <a:sym typeface="TAN Mon Cheri"/>
              </a:rPr>
              <a:t>Team Members</a:t>
            </a:r>
            <a:r>
              <a:rPr lang="en-US" sz="3000" spc="144">
                <a:solidFill>
                  <a:srgbClr val="000000"/>
                </a:solidFill>
                <a:latin typeface="TAN Mon Cheri"/>
                <a:ea typeface="TAN Mon Cheri"/>
                <a:cs typeface="TAN Mon Cheri"/>
                <a:sym typeface="TAN Mon Cheri"/>
              </a:rPr>
              <a:t> :</a:t>
            </a:r>
          </a:p>
          <a:p>
            <a:pPr algn="l">
              <a:lnSpc>
                <a:spcPts val="4200"/>
              </a:lnSpc>
            </a:pPr>
          </a:p>
        </p:txBody>
      </p:sp>
      <p:sp>
        <p:nvSpPr>
          <p:cNvPr name="TextBox 5" id="5"/>
          <p:cNvSpPr txBox="true"/>
          <p:nvPr/>
        </p:nvSpPr>
        <p:spPr>
          <a:xfrm rot="0">
            <a:off x="9621274" y="8355148"/>
            <a:ext cx="3651485" cy="1471929"/>
          </a:xfrm>
          <a:prstGeom prst="rect">
            <a:avLst/>
          </a:prstGeom>
        </p:spPr>
        <p:txBody>
          <a:bodyPr anchor="t" rtlCol="false" tIns="0" lIns="0" bIns="0" rIns="0">
            <a:spAutoFit/>
          </a:bodyPr>
          <a:lstStyle/>
          <a:p>
            <a:pPr algn="l">
              <a:lnSpc>
                <a:spcPts val="3920"/>
              </a:lnSpc>
            </a:pPr>
            <a:r>
              <a:rPr lang="en-US" sz="2800" spc="134">
                <a:solidFill>
                  <a:srgbClr val="000000"/>
                </a:solidFill>
                <a:latin typeface="TAN Mon Cheri"/>
                <a:ea typeface="TAN Mon Cheri"/>
                <a:cs typeface="TAN Mon Cheri"/>
                <a:sym typeface="TAN Mon Cheri"/>
              </a:rPr>
              <a:t>Malavika Gupta</a:t>
            </a:r>
          </a:p>
          <a:p>
            <a:pPr algn="l">
              <a:lnSpc>
                <a:spcPts val="3920"/>
              </a:lnSpc>
            </a:pPr>
            <a:r>
              <a:rPr lang="en-US" sz="2800" spc="134">
                <a:solidFill>
                  <a:srgbClr val="000000"/>
                </a:solidFill>
                <a:latin typeface="TAN Mon Cheri"/>
                <a:ea typeface="TAN Mon Cheri"/>
                <a:cs typeface="TAN Mon Cheri"/>
                <a:sym typeface="TAN Mon Cheri"/>
              </a:rPr>
              <a:t>Tanisha            </a:t>
            </a:r>
          </a:p>
          <a:p>
            <a:pPr algn="l">
              <a:lnSpc>
                <a:spcPts val="392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grpSp>
        <p:nvGrpSpPr>
          <p:cNvPr name="Group 2" id="2"/>
          <p:cNvGrpSpPr/>
          <p:nvPr/>
        </p:nvGrpSpPr>
        <p:grpSpPr>
          <a:xfrm rot="0">
            <a:off x="11521678" y="-672375"/>
            <a:ext cx="7324605" cy="9930675"/>
            <a:chOff x="0" y="0"/>
            <a:chExt cx="1929114" cy="2615486"/>
          </a:xfrm>
        </p:grpSpPr>
        <p:sp>
          <p:nvSpPr>
            <p:cNvPr name="Freeform 3" id="3"/>
            <p:cNvSpPr/>
            <p:nvPr/>
          </p:nvSpPr>
          <p:spPr>
            <a:xfrm flipH="false" flipV="false" rot="0">
              <a:off x="0" y="0"/>
              <a:ext cx="1929114" cy="2615486"/>
            </a:xfrm>
            <a:custGeom>
              <a:avLst/>
              <a:gdLst/>
              <a:ahLst/>
              <a:cxnLst/>
              <a:rect r="r" b="b" t="t" l="l"/>
              <a:pathLst>
                <a:path h="2615486" w="1929114">
                  <a:moveTo>
                    <a:pt x="0" y="0"/>
                  </a:moveTo>
                  <a:lnTo>
                    <a:pt x="1929114" y="0"/>
                  </a:lnTo>
                  <a:lnTo>
                    <a:pt x="1929114" y="2615486"/>
                  </a:lnTo>
                  <a:lnTo>
                    <a:pt x="0" y="2615486"/>
                  </a:lnTo>
                  <a:close/>
                </a:path>
              </a:pathLst>
            </a:custGeom>
            <a:solidFill>
              <a:srgbClr val="CB6CE6"/>
            </a:solidFill>
          </p:spPr>
        </p:sp>
        <p:sp>
          <p:nvSpPr>
            <p:cNvPr name="TextBox 4" id="4"/>
            <p:cNvSpPr txBox="true"/>
            <p:nvPr/>
          </p:nvSpPr>
          <p:spPr>
            <a:xfrm>
              <a:off x="0" y="-47625"/>
              <a:ext cx="1929114" cy="2663111"/>
            </a:xfrm>
            <a:prstGeom prst="rect">
              <a:avLst/>
            </a:prstGeom>
          </p:spPr>
          <p:txBody>
            <a:bodyPr anchor="ctr" rtlCol="false" tIns="50800" lIns="50800" bIns="50800" rIns="50800"/>
            <a:lstStyle/>
            <a:p>
              <a:pPr algn="ctr">
                <a:lnSpc>
                  <a:spcPts val="3219"/>
                </a:lnSpc>
              </a:pPr>
            </a:p>
          </p:txBody>
        </p:sp>
      </p:grpSp>
      <p:grpSp>
        <p:nvGrpSpPr>
          <p:cNvPr name="Group 5" id="5"/>
          <p:cNvGrpSpPr/>
          <p:nvPr/>
        </p:nvGrpSpPr>
        <p:grpSpPr>
          <a:xfrm rot="0">
            <a:off x="11521678" y="1028700"/>
            <a:ext cx="5737622" cy="8229600"/>
            <a:chOff x="0" y="0"/>
            <a:chExt cx="7650163" cy="10972800"/>
          </a:xfrm>
        </p:grpSpPr>
        <p:pic>
          <p:nvPicPr>
            <p:cNvPr name="Picture 6" id="6"/>
            <p:cNvPicPr>
              <a:picLocks noChangeAspect="true"/>
            </p:cNvPicPr>
            <p:nvPr/>
          </p:nvPicPr>
          <p:blipFill>
            <a:blip r:embed="rId2"/>
            <a:srcRect l="0" t="2189" r="0" b="2189"/>
            <a:stretch>
              <a:fillRect/>
            </a:stretch>
          </p:blipFill>
          <p:spPr>
            <a:xfrm flipH="false" flipV="false">
              <a:off x="0" y="0"/>
              <a:ext cx="7650163" cy="10972800"/>
            </a:xfrm>
            <a:prstGeom prst="rect">
              <a:avLst/>
            </a:prstGeom>
          </p:spPr>
        </p:pic>
      </p:grpSp>
      <p:sp>
        <p:nvSpPr>
          <p:cNvPr name="AutoShape 7" id="7"/>
          <p:cNvSpPr/>
          <p:nvPr/>
        </p:nvSpPr>
        <p:spPr>
          <a:xfrm>
            <a:off x="6494618" y="1378075"/>
            <a:ext cx="3903429" cy="0"/>
          </a:xfrm>
          <a:prstGeom prst="line">
            <a:avLst/>
          </a:prstGeom>
          <a:ln cap="flat" w="38100">
            <a:solidFill>
              <a:srgbClr val="000000"/>
            </a:solidFill>
            <a:prstDash val="solid"/>
            <a:headEnd type="none" len="sm" w="sm"/>
            <a:tailEnd type="triangle" len="med" w="lg"/>
          </a:ln>
        </p:spPr>
      </p:sp>
      <p:sp>
        <p:nvSpPr>
          <p:cNvPr name="AutoShape 8" id="8"/>
          <p:cNvSpPr/>
          <p:nvPr/>
        </p:nvSpPr>
        <p:spPr>
          <a:xfrm>
            <a:off x="5531768" y="9884684"/>
            <a:ext cx="962851" cy="0"/>
          </a:xfrm>
          <a:prstGeom prst="line">
            <a:avLst/>
          </a:prstGeom>
          <a:ln cap="flat" w="19050">
            <a:solidFill>
              <a:srgbClr val="000000"/>
            </a:solidFill>
            <a:prstDash val="solid"/>
            <a:headEnd type="none" len="sm" w="sm"/>
            <a:tailEnd type="none" len="sm" w="sm"/>
          </a:ln>
        </p:spPr>
      </p:sp>
      <p:sp>
        <p:nvSpPr>
          <p:cNvPr name="TextBox 9" id="9"/>
          <p:cNvSpPr txBox="true"/>
          <p:nvPr/>
        </p:nvSpPr>
        <p:spPr>
          <a:xfrm rot="0">
            <a:off x="382607" y="459361"/>
            <a:ext cx="11139070" cy="899664"/>
          </a:xfrm>
          <a:prstGeom prst="rect">
            <a:avLst/>
          </a:prstGeom>
        </p:spPr>
        <p:txBody>
          <a:bodyPr anchor="t" rtlCol="false" tIns="0" lIns="0" bIns="0" rIns="0">
            <a:spAutoFit/>
          </a:bodyPr>
          <a:lstStyle/>
          <a:p>
            <a:pPr algn="l" marL="0" indent="0" lvl="0">
              <a:lnSpc>
                <a:spcPts val="7325"/>
              </a:lnSpc>
            </a:pPr>
            <a:r>
              <a:rPr lang="en-US" sz="5507">
                <a:solidFill>
                  <a:srgbClr val="000000"/>
                </a:solidFill>
                <a:latin typeface="TAN Mon Cheri"/>
                <a:ea typeface="TAN Mon Cheri"/>
                <a:cs typeface="TAN Mon Cheri"/>
                <a:sym typeface="TAN Mon Cheri"/>
              </a:rPr>
              <a:t>PROBLEM  STATEMENT</a:t>
            </a:r>
          </a:p>
        </p:txBody>
      </p:sp>
      <p:sp>
        <p:nvSpPr>
          <p:cNvPr name="TextBox 10" id="10"/>
          <p:cNvSpPr txBox="true"/>
          <p:nvPr/>
        </p:nvSpPr>
        <p:spPr>
          <a:xfrm rot="0">
            <a:off x="1028700" y="2299033"/>
            <a:ext cx="9764269" cy="3489325"/>
          </a:xfrm>
          <a:prstGeom prst="rect">
            <a:avLst/>
          </a:prstGeom>
        </p:spPr>
        <p:txBody>
          <a:bodyPr anchor="t" rtlCol="false" tIns="0" lIns="0" bIns="0" rIns="0">
            <a:spAutoFit/>
          </a:bodyPr>
          <a:lstStyle/>
          <a:p>
            <a:pPr algn="l">
              <a:lnSpc>
                <a:spcPts val="3499"/>
              </a:lnSpc>
            </a:pPr>
            <a:r>
              <a:rPr lang="en-US" sz="2499" spc="24">
                <a:solidFill>
                  <a:srgbClr val="000000"/>
                </a:solidFill>
                <a:latin typeface="DM Sans"/>
                <a:ea typeface="DM Sans"/>
                <a:cs typeface="DM Sans"/>
                <a:sym typeface="DM Sans"/>
              </a:rPr>
              <a:t>In the competitive fashion retail industry, staying ahead of trends and engaging customers is essential. Current manual and inaccurate trend generation processes lead to missed opportunities, overproduction, waste, and financial losses due to unsold inventory. Additionally, fashion platforms often lack engaging and interactive features, resulting in low user retention and satisfaction. Consequently, brands risk losing market share to competitors utilizing AI and better engagement tools.</a:t>
            </a:r>
          </a:p>
        </p:txBody>
      </p:sp>
      <p:sp>
        <p:nvSpPr>
          <p:cNvPr name="TextBox 11" id="11"/>
          <p:cNvSpPr txBox="true"/>
          <p:nvPr/>
        </p:nvSpPr>
        <p:spPr>
          <a:xfrm rot="0">
            <a:off x="1028700" y="6312233"/>
            <a:ext cx="9764269" cy="2613025"/>
          </a:xfrm>
          <a:prstGeom prst="rect">
            <a:avLst/>
          </a:prstGeom>
        </p:spPr>
        <p:txBody>
          <a:bodyPr anchor="t" rtlCol="false" tIns="0" lIns="0" bIns="0" rIns="0">
            <a:spAutoFit/>
          </a:bodyPr>
          <a:lstStyle/>
          <a:p>
            <a:pPr algn="l">
              <a:lnSpc>
                <a:spcPts val="3499"/>
              </a:lnSpc>
            </a:pPr>
            <a:r>
              <a:rPr lang="en-US" sz="2499" spc="24">
                <a:solidFill>
                  <a:srgbClr val="000000"/>
                </a:solidFill>
                <a:latin typeface="DM Sans"/>
                <a:ea typeface="DM Sans"/>
                <a:cs typeface="DM Sans"/>
                <a:sym typeface="DM Sans"/>
              </a:rPr>
              <a:t>Our goal is to develop an AI-driven trend generation system for real-time, accurate trend prediction and creation, alongside an engaging, interactive platform to enhance user engagement and satisfaction. This approach aims to align product offerings with market demands, drive higher customer loyalty, and reduce environmental impact through precise production planning.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AutoShape 2" id="2"/>
          <p:cNvSpPr/>
          <p:nvPr/>
        </p:nvSpPr>
        <p:spPr>
          <a:xfrm>
            <a:off x="4515646" y="659775"/>
            <a:ext cx="10910329" cy="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3897511" y="908456"/>
            <a:ext cx="618135" cy="501462"/>
          </a:xfrm>
          <a:custGeom>
            <a:avLst/>
            <a:gdLst/>
            <a:ahLst/>
            <a:cxnLst/>
            <a:rect r="r" b="b" t="t" l="l"/>
            <a:pathLst>
              <a:path h="501462" w="618135">
                <a:moveTo>
                  <a:pt x="0" y="0"/>
                </a:moveTo>
                <a:lnTo>
                  <a:pt x="618135" y="0"/>
                </a:lnTo>
                <a:lnTo>
                  <a:pt x="618135" y="501461"/>
                </a:lnTo>
                <a:lnTo>
                  <a:pt x="0" y="5014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515646" y="1800442"/>
            <a:ext cx="359465" cy="414966"/>
          </a:xfrm>
          <a:custGeom>
            <a:avLst/>
            <a:gdLst/>
            <a:ahLst/>
            <a:cxnLst/>
            <a:rect r="r" b="b" t="t" l="l"/>
            <a:pathLst>
              <a:path h="414966" w="359465">
                <a:moveTo>
                  <a:pt x="0" y="0"/>
                </a:moveTo>
                <a:lnTo>
                  <a:pt x="359465" y="0"/>
                </a:lnTo>
                <a:lnTo>
                  <a:pt x="359465" y="414967"/>
                </a:lnTo>
                <a:lnTo>
                  <a:pt x="0" y="4149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15646" y="2882482"/>
            <a:ext cx="359465" cy="414966"/>
          </a:xfrm>
          <a:custGeom>
            <a:avLst/>
            <a:gdLst/>
            <a:ahLst/>
            <a:cxnLst/>
            <a:rect r="r" b="b" t="t" l="l"/>
            <a:pathLst>
              <a:path h="414966" w="359465">
                <a:moveTo>
                  <a:pt x="0" y="0"/>
                </a:moveTo>
                <a:lnTo>
                  <a:pt x="359465" y="0"/>
                </a:lnTo>
                <a:lnTo>
                  <a:pt x="359465"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72927" y="6660096"/>
            <a:ext cx="359465" cy="414966"/>
          </a:xfrm>
          <a:custGeom>
            <a:avLst/>
            <a:gdLst/>
            <a:ahLst/>
            <a:cxnLst/>
            <a:rect r="r" b="b" t="t" l="l"/>
            <a:pathLst>
              <a:path h="414966" w="359465">
                <a:moveTo>
                  <a:pt x="0" y="0"/>
                </a:moveTo>
                <a:lnTo>
                  <a:pt x="359464" y="0"/>
                </a:lnTo>
                <a:lnTo>
                  <a:pt x="359464"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57175" y="26244"/>
            <a:ext cx="3897511" cy="5578167"/>
            <a:chOff x="0" y="0"/>
            <a:chExt cx="5196682" cy="7437556"/>
          </a:xfrm>
        </p:grpSpPr>
        <p:pic>
          <p:nvPicPr>
            <p:cNvPr name="Picture 8" id="8"/>
            <p:cNvPicPr>
              <a:picLocks noChangeAspect="true"/>
            </p:cNvPicPr>
            <p:nvPr/>
          </p:nvPicPr>
          <p:blipFill>
            <a:blip r:embed="rId6"/>
            <a:srcRect l="9476" t="0" r="20652" b="0"/>
            <a:stretch>
              <a:fillRect/>
            </a:stretch>
          </p:blipFill>
          <p:spPr>
            <a:xfrm flipH="false" flipV="false">
              <a:off x="0" y="0"/>
              <a:ext cx="5196682" cy="7437556"/>
            </a:xfrm>
            <a:prstGeom prst="rect">
              <a:avLst/>
            </a:prstGeom>
          </p:spPr>
        </p:pic>
      </p:grpSp>
      <p:sp>
        <p:nvSpPr>
          <p:cNvPr name="Freeform 9" id="9"/>
          <p:cNvSpPr/>
          <p:nvPr/>
        </p:nvSpPr>
        <p:spPr>
          <a:xfrm flipH="false" flipV="false" rot="0">
            <a:off x="465679" y="8684104"/>
            <a:ext cx="359465" cy="414966"/>
          </a:xfrm>
          <a:custGeom>
            <a:avLst/>
            <a:gdLst/>
            <a:ahLst/>
            <a:cxnLst/>
            <a:rect r="r" b="b" t="t" l="l"/>
            <a:pathLst>
              <a:path h="414966" w="359465">
                <a:moveTo>
                  <a:pt x="0" y="0"/>
                </a:moveTo>
                <a:lnTo>
                  <a:pt x="359464" y="0"/>
                </a:lnTo>
                <a:lnTo>
                  <a:pt x="359464"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369053" y="208492"/>
            <a:ext cx="1780495" cy="1204060"/>
          </a:xfrm>
          <a:custGeom>
            <a:avLst/>
            <a:gdLst/>
            <a:ahLst/>
            <a:cxnLst/>
            <a:rect r="r" b="b" t="t" l="l"/>
            <a:pathLst>
              <a:path h="1204060" w="1780495">
                <a:moveTo>
                  <a:pt x="0" y="0"/>
                </a:moveTo>
                <a:lnTo>
                  <a:pt x="1780494" y="0"/>
                </a:lnTo>
                <a:lnTo>
                  <a:pt x="1780494" y="1204060"/>
                </a:lnTo>
                <a:lnTo>
                  <a:pt x="0" y="12040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7134114" y="5604411"/>
            <a:ext cx="2307771" cy="3699834"/>
          </a:xfrm>
          <a:custGeom>
            <a:avLst/>
            <a:gdLst/>
            <a:ahLst/>
            <a:cxnLst/>
            <a:rect r="r" b="b" t="t" l="l"/>
            <a:pathLst>
              <a:path h="3699834" w="2307771">
                <a:moveTo>
                  <a:pt x="0" y="0"/>
                </a:moveTo>
                <a:lnTo>
                  <a:pt x="2307772" y="0"/>
                </a:lnTo>
                <a:lnTo>
                  <a:pt x="2307772" y="3699833"/>
                </a:lnTo>
                <a:lnTo>
                  <a:pt x="0" y="36998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5129513" y="1819013"/>
            <a:ext cx="2375493" cy="372745"/>
          </a:xfrm>
          <a:prstGeom prst="rect">
            <a:avLst/>
          </a:prstGeom>
        </p:spPr>
        <p:txBody>
          <a:bodyPr anchor="t" rtlCol="false" tIns="0" lIns="0" bIns="0" rIns="0">
            <a:spAutoFit/>
          </a:bodyPr>
          <a:lstStyle/>
          <a:p>
            <a:pPr algn="l">
              <a:lnSpc>
                <a:spcPts val="3079"/>
              </a:lnSpc>
            </a:pPr>
            <a:r>
              <a:rPr lang="en-US" sz="2199" spc="105" u="sng">
                <a:solidFill>
                  <a:srgbClr val="000000"/>
                </a:solidFill>
                <a:latin typeface="TAN Mon Cheri"/>
                <a:ea typeface="TAN Mon Cheri"/>
                <a:cs typeface="TAN Mon Cheri"/>
                <a:sym typeface="TAN Mon Cheri"/>
              </a:rPr>
              <a:t>OBJECTIVE</a:t>
            </a:r>
            <a:r>
              <a:rPr lang="en-US" sz="2199" spc="105">
                <a:solidFill>
                  <a:srgbClr val="000000"/>
                </a:solidFill>
                <a:latin typeface="TAN Mon Cheri"/>
                <a:ea typeface="TAN Mon Cheri"/>
                <a:cs typeface="TAN Mon Cheri"/>
                <a:sym typeface="TAN Mon Cheri"/>
              </a:rPr>
              <a:t> </a:t>
            </a:r>
          </a:p>
        </p:txBody>
      </p:sp>
      <p:sp>
        <p:nvSpPr>
          <p:cNvPr name="TextBox 13" id="13"/>
          <p:cNvSpPr txBox="true"/>
          <p:nvPr/>
        </p:nvSpPr>
        <p:spPr>
          <a:xfrm rot="0">
            <a:off x="7505006" y="1743292"/>
            <a:ext cx="10469402" cy="824864"/>
          </a:xfrm>
          <a:prstGeom prst="rect">
            <a:avLst/>
          </a:prstGeom>
        </p:spPr>
        <p:txBody>
          <a:bodyPr anchor="t" rtlCol="false" tIns="0" lIns="0" bIns="0" rIns="0">
            <a:spAutoFit/>
          </a:bodyPr>
          <a:lstStyle/>
          <a:p>
            <a:pPr algn="l">
              <a:lnSpc>
                <a:spcPts val="3360"/>
              </a:lnSpc>
            </a:pPr>
            <a:r>
              <a:rPr lang="en-US" sz="2400">
                <a:solidFill>
                  <a:srgbClr val="000000"/>
                </a:solidFill>
                <a:latin typeface="DM Sans"/>
                <a:ea typeface="DM Sans"/>
                <a:cs typeface="DM Sans"/>
                <a:sym typeface="DM Sans"/>
              </a:rPr>
              <a:t>Accurately predict and create fashion trends in real-time to align product offerings with market demands.</a:t>
            </a:r>
          </a:p>
        </p:txBody>
      </p:sp>
      <p:sp>
        <p:nvSpPr>
          <p:cNvPr name="TextBox 14" id="14"/>
          <p:cNvSpPr txBox="true"/>
          <p:nvPr/>
        </p:nvSpPr>
        <p:spPr>
          <a:xfrm rot="0">
            <a:off x="4515646" y="91132"/>
            <a:ext cx="3318497" cy="613411"/>
          </a:xfrm>
          <a:prstGeom prst="rect">
            <a:avLst/>
          </a:prstGeom>
        </p:spPr>
        <p:txBody>
          <a:bodyPr anchor="t" rtlCol="false" tIns="0" lIns="0" bIns="0" rIns="0">
            <a:spAutoFit/>
          </a:bodyPr>
          <a:lstStyle/>
          <a:p>
            <a:pPr algn="just">
              <a:lnSpc>
                <a:spcPts val="5039"/>
              </a:lnSpc>
            </a:pPr>
            <a:r>
              <a:rPr lang="en-US" sz="3599" spc="-71">
                <a:solidFill>
                  <a:srgbClr val="000000"/>
                </a:solidFill>
                <a:latin typeface="TAN Mon Cheri"/>
                <a:ea typeface="TAN Mon Cheri"/>
                <a:cs typeface="TAN Mon Cheri"/>
                <a:sym typeface="TAN Mon Cheri"/>
              </a:rPr>
              <a:t>SOLUTION</a:t>
            </a:r>
          </a:p>
        </p:txBody>
      </p:sp>
      <p:sp>
        <p:nvSpPr>
          <p:cNvPr name="TextBox 15" id="15"/>
          <p:cNvSpPr txBox="true"/>
          <p:nvPr/>
        </p:nvSpPr>
        <p:spPr>
          <a:xfrm rot="0">
            <a:off x="4695378" y="914711"/>
            <a:ext cx="13279030" cy="497840"/>
          </a:xfrm>
          <a:prstGeom prst="rect">
            <a:avLst/>
          </a:prstGeom>
        </p:spPr>
        <p:txBody>
          <a:bodyPr anchor="t" rtlCol="false" tIns="0" lIns="0" bIns="0" rIns="0">
            <a:spAutoFit/>
          </a:bodyPr>
          <a:lstStyle/>
          <a:p>
            <a:pPr algn="just">
              <a:lnSpc>
                <a:spcPts val="4059"/>
              </a:lnSpc>
            </a:pPr>
            <a:r>
              <a:rPr lang="en-US" sz="2899" spc="-57" u="sng">
                <a:solidFill>
                  <a:srgbClr val="000000"/>
                </a:solidFill>
                <a:latin typeface="TAN Mon Cheri"/>
                <a:ea typeface="TAN Mon Cheri"/>
                <a:cs typeface="TAN Mon Cheri"/>
                <a:sym typeface="TAN Mon Cheri"/>
              </a:rPr>
              <a:t>AI-DRIVEN TREND GENERATION SYSTEM :</a:t>
            </a:r>
          </a:p>
        </p:txBody>
      </p:sp>
      <p:sp>
        <p:nvSpPr>
          <p:cNvPr name="TextBox 16" id="16"/>
          <p:cNvSpPr txBox="true"/>
          <p:nvPr/>
        </p:nvSpPr>
        <p:spPr>
          <a:xfrm rot="0">
            <a:off x="5129513" y="2901052"/>
            <a:ext cx="2166633" cy="763270"/>
          </a:xfrm>
          <a:prstGeom prst="rect">
            <a:avLst/>
          </a:prstGeom>
        </p:spPr>
        <p:txBody>
          <a:bodyPr anchor="t" rtlCol="false" tIns="0" lIns="0" bIns="0" rIns="0">
            <a:spAutoFit/>
          </a:bodyPr>
          <a:lstStyle/>
          <a:p>
            <a:pPr algn="l">
              <a:lnSpc>
                <a:spcPts val="3079"/>
              </a:lnSpc>
            </a:pPr>
            <a:r>
              <a:rPr lang="en-US" sz="2199" spc="105" u="sng">
                <a:solidFill>
                  <a:srgbClr val="000000"/>
                </a:solidFill>
                <a:latin typeface="TAN Mon Cheri"/>
                <a:ea typeface="TAN Mon Cheri"/>
                <a:cs typeface="TAN Mon Cheri"/>
                <a:sym typeface="TAN Mon Cheri"/>
              </a:rPr>
              <a:t>SOLUTION</a:t>
            </a:r>
          </a:p>
          <a:p>
            <a:pPr algn="l">
              <a:lnSpc>
                <a:spcPts val="3079"/>
              </a:lnSpc>
            </a:pPr>
            <a:r>
              <a:rPr lang="en-US" sz="2199" spc="105" u="sng">
                <a:solidFill>
                  <a:srgbClr val="000000"/>
                </a:solidFill>
                <a:latin typeface="TAN Mon Cheri"/>
                <a:ea typeface="TAN Mon Cheri"/>
                <a:cs typeface="TAN Mon Cheri"/>
                <a:sym typeface="TAN Mon Cheri"/>
              </a:rPr>
              <a:t>DETAILS</a:t>
            </a:r>
          </a:p>
        </p:txBody>
      </p:sp>
      <p:sp>
        <p:nvSpPr>
          <p:cNvPr name="TextBox 17" id="17"/>
          <p:cNvSpPr txBox="true"/>
          <p:nvPr/>
        </p:nvSpPr>
        <p:spPr>
          <a:xfrm rot="0">
            <a:off x="7296146" y="2825332"/>
            <a:ext cx="9072906" cy="3234689"/>
          </a:xfrm>
          <a:prstGeom prst="rect">
            <a:avLst/>
          </a:prstGeom>
        </p:spPr>
        <p:txBody>
          <a:bodyPr anchor="t" rtlCol="false" tIns="0" lIns="0" bIns="0" rIns="0">
            <a:spAutoFit/>
          </a:bodyPr>
          <a:lstStyle/>
          <a:p>
            <a:pPr algn="l" marL="518166" indent="-259083" lvl="1">
              <a:lnSpc>
                <a:spcPts val="3360"/>
              </a:lnSpc>
              <a:buFont typeface="Arial"/>
              <a:buChar char="•"/>
            </a:pPr>
            <a:r>
              <a:rPr lang="en-US" sz="2400">
                <a:solidFill>
                  <a:srgbClr val="000000"/>
                </a:solidFill>
                <a:latin typeface="DM Sans"/>
                <a:ea typeface="DM Sans"/>
                <a:cs typeface="DM Sans"/>
                <a:sym typeface="DM Sans"/>
              </a:rPr>
              <a:t>Implement machine learning models that analyze historical sales data, social media trends, and fashion forecasts.</a:t>
            </a:r>
          </a:p>
          <a:p>
            <a:pPr algn="l">
              <a:lnSpc>
                <a:spcPts val="2496"/>
              </a:lnSpc>
            </a:pPr>
          </a:p>
          <a:p>
            <a:pPr algn="l" marL="518166" indent="-259083" lvl="1">
              <a:lnSpc>
                <a:spcPts val="3360"/>
              </a:lnSpc>
              <a:buFont typeface="Arial"/>
              <a:buChar char="•"/>
            </a:pPr>
            <a:r>
              <a:rPr lang="en-US" sz="2400">
                <a:solidFill>
                  <a:srgbClr val="000000"/>
                </a:solidFill>
                <a:latin typeface="DM Sans"/>
                <a:ea typeface="DM Sans"/>
                <a:cs typeface="DM Sans"/>
                <a:sym typeface="DM Sans"/>
              </a:rPr>
              <a:t>Integrate Natural Language Processing (NLP) to analyze customer reviews and feedback for trend insights and to analyze textual data from social media, fashion blogs, and customer reviews to understand the sentiment and context behind emerging trends.</a:t>
            </a:r>
          </a:p>
        </p:txBody>
      </p:sp>
      <p:sp>
        <p:nvSpPr>
          <p:cNvPr name="TextBox 18" id="18"/>
          <p:cNvSpPr txBox="true"/>
          <p:nvPr/>
        </p:nvSpPr>
        <p:spPr>
          <a:xfrm rot="0">
            <a:off x="986794" y="6678667"/>
            <a:ext cx="3615832" cy="763270"/>
          </a:xfrm>
          <a:prstGeom prst="rect">
            <a:avLst/>
          </a:prstGeom>
        </p:spPr>
        <p:txBody>
          <a:bodyPr anchor="t" rtlCol="false" tIns="0" lIns="0" bIns="0" rIns="0">
            <a:spAutoFit/>
          </a:bodyPr>
          <a:lstStyle/>
          <a:p>
            <a:pPr algn="l">
              <a:lnSpc>
                <a:spcPts val="3080"/>
              </a:lnSpc>
            </a:pPr>
            <a:r>
              <a:rPr lang="en-US" sz="2200" spc="105" u="sng">
                <a:solidFill>
                  <a:srgbClr val="000000"/>
                </a:solidFill>
                <a:latin typeface="TAN Mon Cheri"/>
                <a:ea typeface="TAN Mon Cheri"/>
                <a:cs typeface="TAN Mon Cheri"/>
                <a:sym typeface="TAN Mon Cheri"/>
              </a:rPr>
              <a:t>IMPLEMENTATION</a:t>
            </a:r>
          </a:p>
          <a:p>
            <a:pPr algn="l">
              <a:lnSpc>
                <a:spcPts val="3080"/>
              </a:lnSpc>
            </a:pPr>
            <a:r>
              <a:rPr lang="en-US" sz="2200" spc="105" u="sng">
                <a:solidFill>
                  <a:srgbClr val="000000"/>
                </a:solidFill>
                <a:latin typeface="TAN Mon Cheri"/>
                <a:ea typeface="TAN Mon Cheri"/>
                <a:cs typeface="TAN Mon Cheri"/>
                <a:sym typeface="TAN Mon Cheri"/>
              </a:rPr>
              <a:t>STEPS </a:t>
            </a:r>
          </a:p>
        </p:txBody>
      </p:sp>
      <p:sp>
        <p:nvSpPr>
          <p:cNvPr name="TextBox 19" id="19"/>
          <p:cNvSpPr txBox="true"/>
          <p:nvPr/>
        </p:nvSpPr>
        <p:spPr>
          <a:xfrm rot="0">
            <a:off x="4782358" y="6612471"/>
            <a:ext cx="11223920" cy="1243964"/>
          </a:xfrm>
          <a:prstGeom prst="rect">
            <a:avLst/>
          </a:prstGeom>
        </p:spPr>
        <p:txBody>
          <a:bodyPr anchor="t" rtlCol="false" tIns="0" lIns="0" bIns="0" rIns="0">
            <a:spAutoFit/>
          </a:bodyPr>
          <a:lstStyle/>
          <a:p>
            <a:pPr algn="l" marL="518166" indent="-259083" lvl="1">
              <a:lnSpc>
                <a:spcPts val="3360"/>
              </a:lnSpc>
              <a:buFont typeface="Arial"/>
              <a:buChar char="•"/>
            </a:pPr>
            <a:r>
              <a:rPr lang="en-US" sz="2400">
                <a:solidFill>
                  <a:srgbClr val="000000"/>
                </a:solidFill>
                <a:latin typeface="DM Sans"/>
                <a:ea typeface="DM Sans"/>
                <a:cs typeface="DM Sans"/>
                <a:sym typeface="DM Sans"/>
              </a:rPr>
              <a:t>Partner with AI technology providers to develop custom algorithms.</a:t>
            </a:r>
          </a:p>
          <a:p>
            <a:pPr algn="l" marL="518166" indent="-259083" lvl="1">
              <a:lnSpc>
                <a:spcPts val="3360"/>
              </a:lnSpc>
              <a:buFont typeface="Arial"/>
              <a:buChar char="•"/>
            </a:pPr>
            <a:r>
              <a:rPr lang="en-US" sz="2400">
                <a:solidFill>
                  <a:srgbClr val="000000"/>
                </a:solidFill>
                <a:latin typeface="DM Sans"/>
                <a:ea typeface="DM Sans"/>
                <a:cs typeface="DM Sans"/>
                <a:sym typeface="DM Sans"/>
              </a:rPr>
              <a:t>Train models using existing sales and social media data.</a:t>
            </a:r>
          </a:p>
          <a:p>
            <a:pPr algn="l" marL="518166" indent="-259083" lvl="1">
              <a:lnSpc>
                <a:spcPts val="3360"/>
              </a:lnSpc>
              <a:buFont typeface="Arial"/>
              <a:buChar char="•"/>
            </a:pPr>
            <a:r>
              <a:rPr lang="en-US" sz="2400">
                <a:solidFill>
                  <a:srgbClr val="000000"/>
                </a:solidFill>
                <a:latin typeface="DM Sans"/>
                <a:ea typeface="DM Sans"/>
                <a:cs typeface="DM Sans"/>
                <a:sym typeface="DM Sans"/>
              </a:rPr>
              <a:t>Regularly update the models with new data to improve accuracy.</a:t>
            </a:r>
          </a:p>
        </p:txBody>
      </p:sp>
      <p:sp>
        <p:nvSpPr>
          <p:cNvPr name="TextBox 20" id="20"/>
          <p:cNvSpPr txBox="true"/>
          <p:nvPr/>
        </p:nvSpPr>
        <p:spPr>
          <a:xfrm rot="0">
            <a:off x="1079546" y="8702675"/>
            <a:ext cx="3615832" cy="1153795"/>
          </a:xfrm>
          <a:prstGeom prst="rect">
            <a:avLst/>
          </a:prstGeom>
        </p:spPr>
        <p:txBody>
          <a:bodyPr anchor="t" rtlCol="false" tIns="0" lIns="0" bIns="0" rIns="0">
            <a:spAutoFit/>
          </a:bodyPr>
          <a:lstStyle/>
          <a:p>
            <a:pPr algn="l">
              <a:lnSpc>
                <a:spcPts val="3080"/>
              </a:lnSpc>
            </a:pPr>
            <a:r>
              <a:rPr lang="en-US" sz="2200" spc="105" u="sng">
                <a:solidFill>
                  <a:srgbClr val="000000"/>
                </a:solidFill>
                <a:latin typeface="TAN Mon Cheri"/>
                <a:ea typeface="TAN Mon Cheri"/>
                <a:cs typeface="TAN Mon Cheri"/>
                <a:sym typeface="TAN Mon Cheri"/>
              </a:rPr>
              <a:t>STYLE</a:t>
            </a:r>
          </a:p>
          <a:p>
            <a:pPr algn="l">
              <a:lnSpc>
                <a:spcPts val="3080"/>
              </a:lnSpc>
            </a:pPr>
            <a:r>
              <a:rPr lang="en-US" sz="2200" spc="105" u="sng">
                <a:solidFill>
                  <a:srgbClr val="000000"/>
                </a:solidFill>
                <a:latin typeface="TAN Mon Cheri"/>
                <a:ea typeface="TAN Mon Cheri"/>
                <a:cs typeface="TAN Mon Cheri"/>
                <a:sym typeface="TAN Mon Cheri"/>
              </a:rPr>
              <a:t>TRANSFER</a:t>
            </a:r>
          </a:p>
          <a:p>
            <a:pPr algn="l">
              <a:lnSpc>
                <a:spcPts val="3080"/>
              </a:lnSpc>
            </a:pPr>
            <a:r>
              <a:rPr lang="en-US" sz="2200" spc="105" u="sng">
                <a:solidFill>
                  <a:srgbClr val="000000"/>
                </a:solidFill>
                <a:latin typeface="TAN Mon Cheri"/>
                <a:ea typeface="TAN Mon Cheri"/>
                <a:cs typeface="TAN Mon Cheri"/>
                <a:sym typeface="TAN Mon Cheri"/>
              </a:rPr>
              <a:t>TECHNIQUES</a:t>
            </a:r>
          </a:p>
        </p:txBody>
      </p:sp>
      <p:sp>
        <p:nvSpPr>
          <p:cNvPr name="TextBox 21" id="21"/>
          <p:cNvSpPr txBox="true"/>
          <p:nvPr/>
        </p:nvSpPr>
        <p:spPr>
          <a:xfrm rot="0">
            <a:off x="4875111" y="8612505"/>
            <a:ext cx="12384189" cy="1243964"/>
          </a:xfrm>
          <a:prstGeom prst="rect">
            <a:avLst/>
          </a:prstGeom>
        </p:spPr>
        <p:txBody>
          <a:bodyPr anchor="t" rtlCol="false" tIns="0" lIns="0" bIns="0" rIns="0">
            <a:spAutoFit/>
          </a:bodyPr>
          <a:lstStyle/>
          <a:p>
            <a:pPr algn="l">
              <a:lnSpc>
                <a:spcPts val="3360"/>
              </a:lnSpc>
            </a:pPr>
            <a:r>
              <a:rPr lang="en-US" sz="2400">
                <a:solidFill>
                  <a:srgbClr val="000000"/>
                </a:solidFill>
                <a:latin typeface="DM Sans"/>
                <a:ea typeface="DM Sans"/>
                <a:cs typeface="DM Sans"/>
                <a:sym typeface="DM Sans"/>
              </a:rPr>
              <a:t>Use AI to combine different fashion elements and styles to generate new designs. For example, blending vintage styles with modern trends to create something fresh and appealing.</a:t>
            </a:r>
          </a:p>
        </p:txBody>
      </p:sp>
      <p:sp>
        <p:nvSpPr>
          <p:cNvPr name="AutoShape 22" id="22"/>
          <p:cNvSpPr/>
          <p:nvPr/>
        </p:nvSpPr>
        <p:spPr>
          <a:xfrm>
            <a:off x="11601734" y="9856470"/>
            <a:ext cx="4404545" cy="0"/>
          </a:xfrm>
          <a:prstGeom prst="line">
            <a:avLst/>
          </a:prstGeom>
          <a:ln cap="flat" w="47625">
            <a:solidFill>
              <a:srgbClr val="00000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grpSp>
        <p:nvGrpSpPr>
          <p:cNvPr name="Group 2" id="2"/>
          <p:cNvGrpSpPr/>
          <p:nvPr/>
        </p:nvGrpSpPr>
        <p:grpSpPr>
          <a:xfrm rot="0">
            <a:off x="14476994" y="-21675"/>
            <a:ext cx="5902282" cy="9279975"/>
            <a:chOff x="0" y="0"/>
            <a:chExt cx="1554511" cy="2444109"/>
          </a:xfrm>
        </p:grpSpPr>
        <p:sp>
          <p:nvSpPr>
            <p:cNvPr name="Freeform 3" id="3"/>
            <p:cNvSpPr/>
            <p:nvPr/>
          </p:nvSpPr>
          <p:spPr>
            <a:xfrm flipH="false" flipV="false" rot="0">
              <a:off x="0" y="0"/>
              <a:ext cx="1554511" cy="2444109"/>
            </a:xfrm>
            <a:custGeom>
              <a:avLst/>
              <a:gdLst/>
              <a:ahLst/>
              <a:cxnLst/>
              <a:rect r="r" b="b" t="t" l="l"/>
              <a:pathLst>
                <a:path h="2444109" w="1554511">
                  <a:moveTo>
                    <a:pt x="0" y="0"/>
                  </a:moveTo>
                  <a:lnTo>
                    <a:pt x="1554511" y="0"/>
                  </a:lnTo>
                  <a:lnTo>
                    <a:pt x="1554511" y="2444109"/>
                  </a:lnTo>
                  <a:lnTo>
                    <a:pt x="0" y="2444109"/>
                  </a:lnTo>
                  <a:close/>
                </a:path>
              </a:pathLst>
            </a:custGeom>
            <a:solidFill>
              <a:srgbClr val="CB6CE6"/>
            </a:solidFill>
          </p:spPr>
        </p:sp>
        <p:sp>
          <p:nvSpPr>
            <p:cNvPr name="TextBox 4" id="4"/>
            <p:cNvSpPr txBox="true"/>
            <p:nvPr/>
          </p:nvSpPr>
          <p:spPr>
            <a:xfrm>
              <a:off x="0" y="-47625"/>
              <a:ext cx="1554511" cy="2491734"/>
            </a:xfrm>
            <a:prstGeom prst="rect">
              <a:avLst/>
            </a:prstGeom>
          </p:spPr>
          <p:txBody>
            <a:bodyPr anchor="ctr" rtlCol="false" tIns="50800" lIns="50800" bIns="50800" rIns="50800"/>
            <a:lstStyle/>
            <a:p>
              <a:pPr algn="ctr">
                <a:lnSpc>
                  <a:spcPts val="3219"/>
                </a:lnSpc>
              </a:pPr>
            </a:p>
          </p:txBody>
        </p:sp>
      </p:grpSp>
      <p:grpSp>
        <p:nvGrpSpPr>
          <p:cNvPr name="Group 5" id="5"/>
          <p:cNvGrpSpPr/>
          <p:nvPr/>
        </p:nvGrpSpPr>
        <p:grpSpPr>
          <a:xfrm rot="0">
            <a:off x="14476994" y="2730744"/>
            <a:ext cx="4187824" cy="6551368"/>
            <a:chOff x="0" y="0"/>
            <a:chExt cx="5583766" cy="8735158"/>
          </a:xfrm>
        </p:grpSpPr>
        <p:pic>
          <p:nvPicPr>
            <p:cNvPr name="Picture 6" id="6"/>
            <p:cNvPicPr>
              <a:picLocks noChangeAspect="true"/>
            </p:cNvPicPr>
            <p:nvPr/>
          </p:nvPicPr>
          <p:blipFill>
            <a:blip r:embed="rId2"/>
            <a:srcRect l="2057" t="0" r="2057" b="0"/>
            <a:stretch>
              <a:fillRect/>
            </a:stretch>
          </p:blipFill>
          <p:spPr>
            <a:xfrm flipH="false" flipV="false">
              <a:off x="0" y="0"/>
              <a:ext cx="5583766" cy="8735158"/>
            </a:xfrm>
            <a:prstGeom prst="rect">
              <a:avLst/>
            </a:prstGeom>
          </p:spPr>
        </p:pic>
      </p:grpSp>
      <p:sp>
        <p:nvSpPr>
          <p:cNvPr name="AutoShape 7" id="7"/>
          <p:cNvSpPr/>
          <p:nvPr/>
        </p:nvSpPr>
        <p:spPr>
          <a:xfrm>
            <a:off x="9253299" y="9282112"/>
            <a:ext cx="4404545" cy="0"/>
          </a:xfrm>
          <a:prstGeom prst="line">
            <a:avLst/>
          </a:prstGeom>
          <a:ln cap="flat" w="47625">
            <a:solidFill>
              <a:srgbClr val="000000"/>
            </a:solidFill>
            <a:prstDash val="solid"/>
            <a:headEnd type="none" len="sm" w="sm"/>
            <a:tailEnd type="none" len="sm" w="sm"/>
          </a:ln>
        </p:spPr>
      </p:sp>
      <p:sp>
        <p:nvSpPr>
          <p:cNvPr name="Freeform 8" id="8"/>
          <p:cNvSpPr/>
          <p:nvPr/>
        </p:nvSpPr>
        <p:spPr>
          <a:xfrm flipH="false" flipV="false" rot="0">
            <a:off x="323687" y="524604"/>
            <a:ext cx="618135" cy="501462"/>
          </a:xfrm>
          <a:custGeom>
            <a:avLst/>
            <a:gdLst/>
            <a:ahLst/>
            <a:cxnLst/>
            <a:rect r="r" b="b" t="t" l="l"/>
            <a:pathLst>
              <a:path h="501462" w="618135">
                <a:moveTo>
                  <a:pt x="0" y="0"/>
                </a:moveTo>
                <a:lnTo>
                  <a:pt x="618135" y="0"/>
                </a:lnTo>
                <a:lnTo>
                  <a:pt x="618135" y="501462"/>
                </a:lnTo>
                <a:lnTo>
                  <a:pt x="0" y="501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632755" y="2041528"/>
            <a:ext cx="359465" cy="414966"/>
          </a:xfrm>
          <a:custGeom>
            <a:avLst/>
            <a:gdLst/>
            <a:ahLst/>
            <a:cxnLst/>
            <a:rect r="r" b="b" t="t" l="l"/>
            <a:pathLst>
              <a:path h="414966" w="359465">
                <a:moveTo>
                  <a:pt x="0" y="0"/>
                </a:moveTo>
                <a:lnTo>
                  <a:pt x="359464" y="0"/>
                </a:lnTo>
                <a:lnTo>
                  <a:pt x="359464" y="414967"/>
                </a:lnTo>
                <a:lnTo>
                  <a:pt x="0" y="4149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32755" y="3364432"/>
            <a:ext cx="359465" cy="414966"/>
          </a:xfrm>
          <a:custGeom>
            <a:avLst/>
            <a:gdLst/>
            <a:ahLst/>
            <a:cxnLst/>
            <a:rect r="r" b="b" t="t" l="l"/>
            <a:pathLst>
              <a:path h="414966" w="359465">
                <a:moveTo>
                  <a:pt x="0" y="0"/>
                </a:moveTo>
                <a:lnTo>
                  <a:pt x="359464" y="0"/>
                </a:lnTo>
                <a:lnTo>
                  <a:pt x="359464" y="414967"/>
                </a:lnTo>
                <a:lnTo>
                  <a:pt x="0" y="4149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632755" y="6551337"/>
            <a:ext cx="359465" cy="414966"/>
          </a:xfrm>
          <a:custGeom>
            <a:avLst/>
            <a:gdLst/>
            <a:ahLst/>
            <a:cxnLst/>
            <a:rect r="r" b="b" t="t" l="l"/>
            <a:pathLst>
              <a:path h="414966" w="359465">
                <a:moveTo>
                  <a:pt x="0" y="0"/>
                </a:moveTo>
                <a:lnTo>
                  <a:pt x="359464" y="0"/>
                </a:lnTo>
                <a:lnTo>
                  <a:pt x="359464" y="414967"/>
                </a:lnTo>
                <a:lnTo>
                  <a:pt x="0" y="4149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6060775" y="0"/>
            <a:ext cx="2227225" cy="2728607"/>
          </a:xfrm>
          <a:custGeom>
            <a:avLst/>
            <a:gdLst/>
            <a:ahLst/>
            <a:cxnLst/>
            <a:rect r="r" b="b" t="t" l="l"/>
            <a:pathLst>
              <a:path h="2728607" w="2227225">
                <a:moveTo>
                  <a:pt x="0" y="0"/>
                </a:moveTo>
                <a:lnTo>
                  <a:pt x="2227225" y="0"/>
                </a:lnTo>
                <a:lnTo>
                  <a:pt x="2227225" y="2728607"/>
                </a:lnTo>
                <a:lnTo>
                  <a:pt x="0" y="27286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57354" y="7515025"/>
            <a:ext cx="971346" cy="2771975"/>
          </a:xfrm>
          <a:custGeom>
            <a:avLst/>
            <a:gdLst/>
            <a:ahLst/>
            <a:cxnLst/>
            <a:rect r="r" b="b" t="t" l="l"/>
            <a:pathLst>
              <a:path h="2771975" w="971346">
                <a:moveTo>
                  <a:pt x="0" y="0"/>
                </a:moveTo>
                <a:lnTo>
                  <a:pt x="971346" y="0"/>
                </a:lnTo>
                <a:lnTo>
                  <a:pt x="971346" y="2771975"/>
                </a:lnTo>
                <a:lnTo>
                  <a:pt x="0" y="27719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121554" y="530860"/>
            <a:ext cx="10308579" cy="497840"/>
          </a:xfrm>
          <a:prstGeom prst="rect">
            <a:avLst/>
          </a:prstGeom>
        </p:spPr>
        <p:txBody>
          <a:bodyPr anchor="t" rtlCol="false" tIns="0" lIns="0" bIns="0" rIns="0">
            <a:spAutoFit/>
          </a:bodyPr>
          <a:lstStyle/>
          <a:p>
            <a:pPr algn="just">
              <a:lnSpc>
                <a:spcPts val="4059"/>
              </a:lnSpc>
            </a:pPr>
            <a:r>
              <a:rPr lang="en-US" sz="2899" spc="-57" u="sng">
                <a:solidFill>
                  <a:srgbClr val="000000"/>
                </a:solidFill>
                <a:latin typeface="TAN Mon Cheri"/>
                <a:ea typeface="TAN Mon Cheri"/>
                <a:cs typeface="TAN Mon Cheri"/>
                <a:sym typeface="TAN Mon Cheri"/>
              </a:rPr>
              <a:t>ENGAGING AND INTERACTIVE PLATFORM :</a:t>
            </a:r>
          </a:p>
        </p:txBody>
      </p:sp>
      <p:sp>
        <p:nvSpPr>
          <p:cNvPr name="TextBox 15" id="15"/>
          <p:cNvSpPr txBox="true"/>
          <p:nvPr/>
        </p:nvSpPr>
        <p:spPr>
          <a:xfrm rot="0">
            <a:off x="1246622" y="2060099"/>
            <a:ext cx="2375493" cy="372745"/>
          </a:xfrm>
          <a:prstGeom prst="rect">
            <a:avLst/>
          </a:prstGeom>
        </p:spPr>
        <p:txBody>
          <a:bodyPr anchor="t" rtlCol="false" tIns="0" lIns="0" bIns="0" rIns="0">
            <a:spAutoFit/>
          </a:bodyPr>
          <a:lstStyle/>
          <a:p>
            <a:pPr algn="l">
              <a:lnSpc>
                <a:spcPts val="3079"/>
              </a:lnSpc>
            </a:pPr>
            <a:r>
              <a:rPr lang="en-US" sz="2199" spc="105" u="sng">
                <a:solidFill>
                  <a:srgbClr val="000000"/>
                </a:solidFill>
                <a:latin typeface="TAN Mon Cheri"/>
                <a:ea typeface="TAN Mon Cheri"/>
                <a:cs typeface="TAN Mon Cheri"/>
                <a:sym typeface="TAN Mon Cheri"/>
              </a:rPr>
              <a:t>OBJECTIVE</a:t>
            </a:r>
            <a:r>
              <a:rPr lang="en-US" sz="2199" spc="105">
                <a:solidFill>
                  <a:srgbClr val="000000"/>
                </a:solidFill>
                <a:latin typeface="TAN Mon Cheri"/>
                <a:ea typeface="TAN Mon Cheri"/>
                <a:cs typeface="TAN Mon Cheri"/>
                <a:sym typeface="TAN Mon Cheri"/>
              </a:rPr>
              <a:t> </a:t>
            </a:r>
          </a:p>
        </p:txBody>
      </p:sp>
      <p:sp>
        <p:nvSpPr>
          <p:cNvPr name="TextBox 16" id="16"/>
          <p:cNvSpPr txBox="true"/>
          <p:nvPr/>
        </p:nvSpPr>
        <p:spPr>
          <a:xfrm rot="0">
            <a:off x="4838442" y="1858658"/>
            <a:ext cx="8422226" cy="869949"/>
          </a:xfrm>
          <a:prstGeom prst="rect">
            <a:avLst/>
          </a:prstGeom>
        </p:spPr>
        <p:txBody>
          <a:bodyPr anchor="t" rtlCol="false" tIns="0" lIns="0" bIns="0" rIns="0">
            <a:spAutoFit/>
          </a:bodyPr>
          <a:lstStyle/>
          <a:p>
            <a:pPr algn="l">
              <a:lnSpc>
                <a:spcPts val="3500"/>
              </a:lnSpc>
            </a:pPr>
            <a:r>
              <a:rPr lang="en-US" sz="2500">
                <a:solidFill>
                  <a:srgbClr val="000000"/>
                </a:solidFill>
                <a:latin typeface="DM Sans"/>
                <a:ea typeface="DM Sans"/>
                <a:cs typeface="DM Sans"/>
                <a:sym typeface="DM Sans"/>
              </a:rPr>
              <a:t>Enhance user engagement and satisfaction on the fashion platform.</a:t>
            </a:r>
          </a:p>
        </p:txBody>
      </p:sp>
      <p:sp>
        <p:nvSpPr>
          <p:cNvPr name="TextBox 17" id="17"/>
          <p:cNvSpPr txBox="true"/>
          <p:nvPr/>
        </p:nvSpPr>
        <p:spPr>
          <a:xfrm rot="0">
            <a:off x="1246622" y="3383003"/>
            <a:ext cx="2166633" cy="763270"/>
          </a:xfrm>
          <a:prstGeom prst="rect">
            <a:avLst/>
          </a:prstGeom>
        </p:spPr>
        <p:txBody>
          <a:bodyPr anchor="t" rtlCol="false" tIns="0" lIns="0" bIns="0" rIns="0">
            <a:spAutoFit/>
          </a:bodyPr>
          <a:lstStyle/>
          <a:p>
            <a:pPr algn="l">
              <a:lnSpc>
                <a:spcPts val="3079"/>
              </a:lnSpc>
            </a:pPr>
            <a:r>
              <a:rPr lang="en-US" sz="2199" spc="105" u="sng">
                <a:solidFill>
                  <a:srgbClr val="000000"/>
                </a:solidFill>
                <a:latin typeface="TAN Mon Cheri"/>
                <a:ea typeface="TAN Mon Cheri"/>
                <a:cs typeface="TAN Mon Cheri"/>
                <a:sym typeface="TAN Mon Cheri"/>
              </a:rPr>
              <a:t>SOLUTION</a:t>
            </a:r>
          </a:p>
          <a:p>
            <a:pPr algn="l">
              <a:lnSpc>
                <a:spcPts val="3079"/>
              </a:lnSpc>
            </a:pPr>
            <a:r>
              <a:rPr lang="en-US" sz="2199" spc="105" u="sng">
                <a:solidFill>
                  <a:srgbClr val="000000"/>
                </a:solidFill>
                <a:latin typeface="TAN Mon Cheri"/>
                <a:ea typeface="TAN Mon Cheri"/>
                <a:cs typeface="TAN Mon Cheri"/>
                <a:sym typeface="TAN Mon Cheri"/>
              </a:rPr>
              <a:t>DETAILS</a:t>
            </a:r>
          </a:p>
        </p:txBody>
      </p:sp>
      <p:sp>
        <p:nvSpPr>
          <p:cNvPr name="TextBox 18" id="18"/>
          <p:cNvSpPr txBox="true"/>
          <p:nvPr/>
        </p:nvSpPr>
        <p:spPr>
          <a:xfrm rot="0">
            <a:off x="4444096" y="3300138"/>
            <a:ext cx="9213747" cy="2622549"/>
          </a:xfrm>
          <a:prstGeom prst="rect">
            <a:avLst/>
          </a:prstGeom>
        </p:spPr>
        <p:txBody>
          <a:bodyPr anchor="t" rtlCol="false" tIns="0" lIns="0" bIns="0" rIns="0">
            <a:spAutoFit/>
          </a:bodyPr>
          <a:lstStyle/>
          <a:p>
            <a:pPr algn="l" marL="539756" indent="-269878" lvl="1">
              <a:lnSpc>
                <a:spcPts val="3500"/>
              </a:lnSpc>
              <a:buFont typeface="Arial"/>
              <a:buChar char="•"/>
            </a:pPr>
            <a:r>
              <a:rPr lang="en-US" sz="2500">
                <a:solidFill>
                  <a:srgbClr val="000000"/>
                </a:solidFill>
                <a:latin typeface="DM Sans"/>
                <a:ea typeface="DM Sans"/>
                <a:cs typeface="DM Sans"/>
                <a:sym typeface="DM Sans"/>
              </a:rPr>
              <a:t>Introduce "creating new trends" feature where the user can create their own fashion designs and then setting up polls on the platform to choose the most innovative and best designs and reward Myntra points to the winners.</a:t>
            </a:r>
          </a:p>
          <a:p>
            <a:pPr algn="l" marL="539756" indent="-269878" lvl="1">
              <a:lnSpc>
                <a:spcPts val="3500"/>
              </a:lnSpc>
              <a:buFont typeface="Arial"/>
              <a:buChar char="•"/>
            </a:pPr>
            <a:r>
              <a:rPr lang="en-US" sz="2500">
                <a:solidFill>
                  <a:srgbClr val="000000"/>
                </a:solidFill>
                <a:latin typeface="DM Sans"/>
                <a:ea typeface="DM Sans"/>
                <a:cs typeface="DM Sans"/>
                <a:sym typeface="DM Sans"/>
              </a:rPr>
              <a:t>Create a fashion community space for users to share styles, participate in challenges, and give feedback.</a:t>
            </a:r>
          </a:p>
        </p:txBody>
      </p:sp>
      <p:sp>
        <p:nvSpPr>
          <p:cNvPr name="TextBox 19" id="19"/>
          <p:cNvSpPr txBox="true"/>
          <p:nvPr/>
        </p:nvSpPr>
        <p:spPr>
          <a:xfrm rot="0">
            <a:off x="1246622" y="6569908"/>
            <a:ext cx="3615832" cy="745490"/>
          </a:xfrm>
          <a:prstGeom prst="rect">
            <a:avLst/>
          </a:prstGeom>
        </p:spPr>
        <p:txBody>
          <a:bodyPr anchor="t" rtlCol="false" tIns="0" lIns="0" bIns="0" rIns="0">
            <a:spAutoFit/>
          </a:bodyPr>
          <a:lstStyle/>
          <a:p>
            <a:pPr algn="l">
              <a:lnSpc>
                <a:spcPts val="2940"/>
              </a:lnSpc>
            </a:pPr>
            <a:r>
              <a:rPr lang="en-US" sz="2100" spc="100" u="sng">
                <a:solidFill>
                  <a:srgbClr val="000000"/>
                </a:solidFill>
                <a:latin typeface="TAN Mon Cheri"/>
                <a:ea typeface="TAN Mon Cheri"/>
                <a:cs typeface="TAN Mon Cheri"/>
                <a:sym typeface="TAN Mon Cheri"/>
              </a:rPr>
              <a:t>IMPLEMENTATION</a:t>
            </a:r>
          </a:p>
          <a:p>
            <a:pPr algn="l">
              <a:lnSpc>
                <a:spcPts val="3080"/>
              </a:lnSpc>
            </a:pPr>
            <a:r>
              <a:rPr lang="en-US" sz="2200" spc="105" u="sng">
                <a:solidFill>
                  <a:srgbClr val="000000"/>
                </a:solidFill>
                <a:latin typeface="TAN Mon Cheri"/>
                <a:ea typeface="TAN Mon Cheri"/>
                <a:cs typeface="TAN Mon Cheri"/>
                <a:sym typeface="TAN Mon Cheri"/>
              </a:rPr>
              <a:t>STEPS </a:t>
            </a:r>
          </a:p>
        </p:txBody>
      </p:sp>
      <p:sp>
        <p:nvSpPr>
          <p:cNvPr name="TextBox 20" id="20"/>
          <p:cNvSpPr txBox="true"/>
          <p:nvPr/>
        </p:nvSpPr>
        <p:spPr>
          <a:xfrm rot="0">
            <a:off x="4444096" y="6494187"/>
            <a:ext cx="8376338" cy="1746249"/>
          </a:xfrm>
          <a:prstGeom prst="rect">
            <a:avLst/>
          </a:prstGeom>
        </p:spPr>
        <p:txBody>
          <a:bodyPr anchor="t" rtlCol="false" tIns="0" lIns="0" bIns="0" rIns="0">
            <a:spAutoFit/>
          </a:bodyPr>
          <a:lstStyle/>
          <a:p>
            <a:pPr algn="l" marL="539756" indent="-269878" lvl="1">
              <a:lnSpc>
                <a:spcPts val="3500"/>
              </a:lnSpc>
              <a:buFont typeface="Arial"/>
              <a:buChar char="•"/>
            </a:pPr>
            <a:r>
              <a:rPr lang="en-US" sz="2500">
                <a:solidFill>
                  <a:srgbClr val="000000"/>
                </a:solidFill>
                <a:latin typeface="DM Sans"/>
                <a:ea typeface="DM Sans"/>
                <a:cs typeface="DM Sans"/>
                <a:sym typeface="DM Sans"/>
              </a:rPr>
              <a:t>Partner with AI technology providers to build virtual designing platform with variety of inbuilt features.</a:t>
            </a:r>
          </a:p>
          <a:p>
            <a:pPr algn="l" marL="539756" indent="-269878" lvl="1">
              <a:lnSpc>
                <a:spcPts val="3500"/>
              </a:lnSpc>
              <a:buFont typeface="Arial"/>
              <a:buChar char="•"/>
            </a:pPr>
            <a:r>
              <a:rPr lang="en-US" sz="2500">
                <a:solidFill>
                  <a:srgbClr val="000000"/>
                </a:solidFill>
                <a:latin typeface="DM Sans"/>
                <a:ea typeface="DM Sans"/>
                <a:cs typeface="DM Sans"/>
                <a:sym typeface="DM Sans"/>
              </a:rPr>
              <a:t>Launch community events and fashion challenges to drive participation.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sp>
        <p:nvSpPr>
          <p:cNvPr name="AutoShape 2" id="2"/>
          <p:cNvSpPr/>
          <p:nvPr/>
        </p:nvSpPr>
        <p:spPr>
          <a:xfrm>
            <a:off x="365753" y="862012"/>
            <a:ext cx="16230600" cy="0"/>
          </a:xfrm>
          <a:prstGeom prst="line">
            <a:avLst/>
          </a:prstGeom>
          <a:ln cap="flat" w="9525">
            <a:solidFill>
              <a:srgbClr val="000000"/>
            </a:solidFill>
            <a:prstDash val="solid"/>
            <a:headEnd type="none" len="sm" w="sm"/>
            <a:tailEnd type="none" len="sm" w="sm"/>
          </a:ln>
        </p:spPr>
      </p:sp>
      <p:grpSp>
        <p:nvGrpSpPr>
          <p:cNvPr name="Group 3" id="3"/>
          <p:cNvGrpSpPr/>
          <p:nvPr/>
        </p:nvGrpSpPr>
        <p:grpSpPr>
          <a:xfrm rot="0">
            <a:off x="-942826" y="1210277"/>
            <a:ext cx="4379285" cy="9258300"/>
            <a:chOff x="0" y="0"/>
            <a:chExt cx="1153392" cy="2438400"/>
          </a:xfrm>
        </p:grpSpPr>
        <p:sp>
          <p:nvSpPr>
            <p:cNvPr name="Freeform 4" id="4"/>
            <p:cNvSpPr/>
            <p:nvPr/>
          </p:nvSpPr>
          <p:spPr>
            <a:xfrm flipH="false" flipV="false" rot="0">
              <a:off x="0" y="0"/>
              <a:ext cx="1153392" cy="2438400"/>
            </a:xfrm>
            <a:custGeom>
              <a:avLst/>
              <a:gdLst/>
              <a:ahLst/>
              <a:cxnLst/>
              <a:rect r="r" b="b" t="t" l="l"/>
              <a:pathLst>
                <a:path h="2438400" w="1153392">
                  <a:moveTo>
                    <a:pt x="0" y="0"/>
                  </a:moveTo>
                  <a:lnTo>
                    <a:pt x="1153392" y="0"/>
                  </a:lnTo>
                  <a:lnTo>
                    <a:pt x="1153392" y="2438400"/>
                  </a:lnTo>
                  <a:lnTo>
                    <a:pt x="0" y="2438400"/>
                  </a:lnTo>
                  <a:close/>
                </a:path>
              </a:pathLst>
            </a:custGeom>
            <a:solidFill>
              <a:srgbClr val="CB6CE6"/>
            </a:solidFill>
          </p:spPr>
        </p:sp>
        <p:sp>
          <p:nvSpPr>
            <p:cNvPr name="TextBox 5" id="5"/>
            <p:cNvSpPr txBox="true"/>
            <p:nvPr/>
          </p:nvSpPr>
          <p:spPr>
            <a:xfrm>
              <a:off x="0" y="-47625"/>
              <a:ext cx="1153392" cy="2486025"/>
            </a:xfrm>
            <a:prstGeom prst="rect">
              <a:avLst/>
            </a:prstGeom>
          </p:spPr>
          <p:txBody>
            <a:bodyPr anchor="ctr" rtlCol="false" tIns="50800" lIns="50800" bIns="50800" rIns="50800"/>
            <a:lstStyle/>
            <a:p>
              <a:pPr algn="ctr">
                <a:lnSpc>
                  <a:spcPts val="3219"/>
                </a:lnSpc>
              </a:pPr>
            </a:p>
          </p:txBody>
        </p:sp>
      </p:grpSp>
      <p:grpSp>
        <p:nvGrpSpPr>
          <p:cNvPr name="Group 6" id="6"/>
          <p:cNvGrpSpPr/>
          <p:nvPr/>
        </p:nvGrpSpPr>
        <p:grpSpPr>
          <a:xfrm rot="0">
            <a:off x="-700007" y="1187179"/>
            <a:ext cx="4136466" cy="4246976"/>
            <a:chOff x="0" y="0"/>
            <a:chExt cx="5515288" cy="5662635"/>
          </a:xfrm>
        </p:grpSpPr>
        <p:pic>
          <p:nvPicPr>
            <p:cNvPr name="Picture 7" id="7"/>
            <p:cNvPicPr>
              <a:picLocks noChangeAspect="true"/>
            </p:cNvPicPr>
            <p:nvPr/>
          </p:nvPicPr>
          <p:blipFill>
            <a:blip r:embed="rId2"/>
            <a:srcRect l="2242" t="34662" r="2242" b="0"/>
            <a:stretch>
              <a:fillRect/>
            </a:stretch>
          </p:blipFill>
          <p:spPr>
            <a:xfrm flipH="false" flipV="false">
              <a:off x="0" y="0"/>
              <a:ext cx="5515288" cy="5662635"/>
            </a:xfrm>
            <a:prstGeom prst="rect">
              <a:avLst/>
            </a:prstGeom>
          </p:spPr>
        </p:pic>
      </p:grpSp>
      <p:grpSp>
        <p:nvGrpSpPr>
          <p:cNvPr name="Group 8" id="8"/>
          <p:cNvGrpSpPr/>
          <p:nvPr/>
        </p:nvGrpSpPr>
        <p:grpSpPr>
          <a:xfrm rot="0">
            <a:off x="-647689" y="5853255"/>
            <a:ext cx="4084148" cy="4619625"/>
            <a:chOff x="0" y="0"/>
            <a:chExt cx="5445530" cy="6159500"/>
          </a:xfrm>
        </p:grpSpPr>
        <p:pic>
          <p:nvPicPr>
            <p:cNvPr name="Picture 9" id="9"/>
            <p:cNvPicPr>
              <a:picLocks noChangeAspect="true"/>
            </p:cNvPicPr>
            <p:nvPr/>
          </p:nvPicPr>
          <p:blipFill>
            <a:blip r:embed="rId3"/>
            <a:srcRect l="0" t="12296" r="0" b="12296"/>
            <a:stretch>
              <a:fillRect/>
            </a:stretch>
          </p:blipFill>
          <p:spPr>
            <a:xfrm flipH="false" flipV="false">
              <a:off x="0" y="0"/>
              <a:ext cx="5445530" cy="6159500"/>
            </a:xfrm>
            <a:prstGeom prst="rect">
              <a:avLst/>
            </a:prstGeom>
          </p:spPr>
        </p:pic>
      </p:grpSp>
      <p:sp>
        <p:nvSpPr>
          <p:cNvPr name="Freeform 10" id="10"/>
          <p:cNvSpPr/>
          <p:nvPr/>
        </p:nvSpPr>
        <p:spPr>
          <a:xfrm flipH="false" flipV="false" rot="0">
            <a:off x="3684250" y="3117879"/>
            <a:ext cx="359465" cy="414966"/>
          </a:xfrm>
          <a:custGeom>
            <a:avLst/>
            <a:gdLst/>
            <a:ahLst/>
            <a:cxnLst/>
            <a:rect r="r" b="b" t="t" l="l"/>
            <a:pathLst>
              <a:path h="414966" w="359465">
                <a:moveTo>
                  <a:pt x="0" y="0"/>
                </a:moveTo>
                <a:lnTo>
                  <a:pt x="359465" y="0"/>
                </a:lnTo>
                <a:lnTo>
                  <a:pt x="359465"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668234" y="3751920"/>
            <a:ext cx="359465" cy="414966"/>
          </a:xfrm>
          <a:custGeom>
            <a:avLst/>
            <a:gdLst/>
            <a:ahLst/>
            <a:cxnLst/>
            <a:rect r="r" b="b" t="t" l="l"/>
            <a:pathLst>
              <a:path h="414966" w="359465">
                <a:moveTo>
                  <a:pt x="0" y="0"/>
                </a:moveTo>
                <a:lnTo>
                  <a:pt x="359465" y="0"/>
                </a:lnTo>
                <a:lnTo>
                  <a:pt x="359465" y="414967"/>
                </a:lnTo>
                <a:lnTo>
                  <a:pt x="0" y="4149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3668234" y="4383745"/>
            <a:ext cx="359465" cy="414966"/>
          </a:xfrm>
          <a:custGeom>
            <a:avLst/>
            <a:gdLst/>
            <a:ahLst/>
            <a:cxnLst/>
            <a:rect r="r" b="b" t="t" l="l"/>
            <a:pathLst>
              <a:path h="414966" w="359465">
                <a:moveTo>
                  <a:pt x="0" y="0"/>
                </a:moveTo>
                <a:lnTo>
                  <a:pt x="359465" y="0"/>
                </a:lnTo>
                <a:lnTo>
                  <a:pt x="359465"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3668234" y="5019189"/>
            <a:ext cx="359465" cy="414966"/>
          </a:xfrm>
          <a:custGeom>
            <a:avLst/>
            <a:gdLst/>
            <a:ahLst/>
            <a:cxnLst/>
            <a:rect r="r" b="b" t="t" l="l"/>
            <a:pathLst>
              <a:path h="414966" w="359465">
                <a:moveTo>
                  <a:pt x="0" y="0"/>
                </a:moveTo>
                <a:lnTo>
                  <a:pt x="359465" y="0"/>
                </a:lnTo>
                <a:lnTo>
                  <a:pt x="359465"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0978566" y="3117879"/>
            <a:ext cx="359465" cy="414966"/>
          </a:xfrm>
          <a:custGeom>
            <a:avLst/>
            <a:gdLst/>
            <a:ahLst/>
            <a:cxnLst/>
            <a:rect r="r" b="b" t="t" l="l"/>
            <a:pathLst>
              <a:path h="414966" w="359465">
                <a:moveTo>
                  <a:pt x="0" y="0"/>
                </a:moveTo>
                <a:lnTo>
                  <a:pt x="359465" y="0"/>
                </a:lnTo>
                <a:lnTo>
                  <a:pt x="359465"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0978566" y="3751920"/>
            <a:ext cx="359465" cy="414966"/>
          </a:xfrm>
          <a:custGeom>
            <a:avLst/>
            <a:gdLst/>
            <a:ahLst/>
            <a:cxnLst/>
            <a:rect r="r" b="b" t="t" l="l"/>
            <a:pathLst>
              <a:path h="414966" w="359465">
                <a:moveTo>
                  <a:pt x="0" y="0"/>
                </a:moveTo>
                <a:lnTo>
                  <a:pt x="359465" y="0"/>
                </a:lnTo>
                <a:lnTo>
                  <a:pt x="359465" y="414967"/>
                </a:lnTo>
                <a:lnTo>
                  <a:pt x="0" y="4149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0978566" y="4383745"/>
            <a:ext cx="359465" cy="414966"/>
          </a:xfrm>
          <a:custGeom>
            <a:avLst/>
            <a:gdLst/>
            <a:ahLst/>
            <a:cxnLst/>
            <a:rect r="r" b="b" t="t" l="l"/>
            <a:pathLst>
              <a:path h="414966" w="359465">
                <a:moveTo>
                  <a:pt x="0" y="0"/>
                </a:moveTo>
                <a:lnTo>
                  <a:pt x="359465" y="0"/>
                </a:lnTo>
                <a:lnTo>
                  <a:pt x="359465"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0978566" y="5019189"/>
            <a:ext cx="359465" cy="414966"/>
          </a:xfrm>
          <a:custGeom>
            <a:avLst/>
            <a:gdLst/>
            <a:ahLst/>
            <a:cxnLst/>
            <a:rect r="r" b="b" t="t" l="l"/>
            <a:pathLst>
              <a:path h="414966" w="359465">
                <a:moveTo>
                  <a:pt x="0" y="0"/>
                </a:moveTo>
                <a:lnTo>
                  <a:pt x="359465" y="0"/>
                </a:lnTo>
                <a:lnTo>
                  <a:pt x="359465" y="414966"/>
                </a:lnTo>
                <a:lnTo>
                  <a:pt x="0" y="414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0737474" y="1036629"/>
            <a:ext cx="12492" cy="4996867"/>
          </a:xfrm>
          <a:custGeom>
            <a:avLst/>
            <a:gdLst/>
            <a:ahLst/>
            <a:cxnLst/>
            <a:rect r="r" b="b" t="t" l="l"/>
            <a:pathLst>
              <a:path h="4996867" w="12492">
                <a:moveTo>
                  <a:pt x="0" y="0"/>
                </a:moveTo>
                <a:lnTo>
                  <a:pt x="12492" y="0"/>
                </a:lnTo>
                <a:lnTo>
                  <a:pt x="12492" y="4996867"/>
                </a:lnTo>
                <a:lnTo>
                  <a:pt x="0" y="49968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3604323" y="6326648"/>
            <a:ext cx="618135" cy="501462"/>
          </a:xfrm>
          <a:custGeom>
            <a:avLst/>
            <a:gdLst/>
            <a:ahLst/>
            <a:cxnLst/>
            <a:rect r="r" b="b" t="t" l="l"/>
            <a:pathLst>
              <a:path h="501462" w="618135">
                <a:moveTo>
                  <a:pt x="0" y="0"/>
                </a:moveTo>
                <a:lnTo>
                  <a:pt x="618135" y="0"/>
                </a:lnTo>
                <a:lnTo>
                  <a:pt x="618135" y="501462"/>
                </a:lnTo>
                <a:lnTo>
                  <a:pt x="0" y="501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5045253" y="5872596"/>
            <a:ext cx="3242747" cy="4414404"/>
          </a:xfrm>
          <a:custGeom>
            <a:avLst/>
            <a:gdLst/>
            <a:ahLst/>
            <a:cxnLst/>
            <a:rect r="r" b="b" t="t" l="l"/>
            <a:pathLst>
              <a:path h="4414404" w="3242747">
                <a:moveTo>
                  <a:pt x="0" y="0"/>
                </a:moveTo>
                <a:lnTo>
                  <a:pt x="3242747" y="0"/>
                </a:lnTo>
                <a:lnTo>
                  <a:pt x="3242747" y="4414404"/>
                </a:lnTo>
                <a:lnTo>
                  <a:pt x="0" y="44144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1" id="21"/>
          <p:cNvSpPr txBox="true"/>
          <p:nvPr/>
        </p:nvSpPr>
        <p:spPr>
          <a:xfrm rot="0">
            <a:off x="365753" y="243840"/>
            <a:ext cx="3318497" cy="613410"/>
          </a:xfrm>
          <a:prstGeom prst="rect">
            <a:avLst/>
          </a:prstGeom>
        </p:spPr>
        <p:txBody>
          <a:bodyPr anchor="t" rtlCol="false" tIns="0" lIns="0" bIns="0" rIns="0">
            <a:spAutoFit/>
          </a:bodyPr>
          <a:lstStyle/>
          <a:p>
            <a:pPr algn="just">
              <a:lnSpc>
                <a:spcPts val="5040"/>
              </a:lnSpc>
            </a:pPr>
            <a:r>
              <a:rPr lang="en-US" sz="3600" spc="-72">
                <a:solidFill>
                  <a:srgbClr val="000000"/>
                </a:solidFill>
                <a:latin typeface="TAN Mon Cheri"/>
                <a:ea typeface="TAN Mon Cheri"/>
                <a:cs typeface="TAN Mon Cheri"/>
                <a:sym typeface="TAN Mon Cheri"/>
              </a:rPr>
              <a:t>IMPACTS</a:t>
            </a:r>
          </a:p>
        </p:txBody>
      </p:sp>
      <p:sp>
        <p:nvSpPr>
          <p:cNvPr name="TextBox 22" id="22"/>
          <p:cNvSpPr txBox="true"/>
          <p:nvPr/>
        </p:nvSpPr>
        <p:spPr>
          <a:xfrm rot="0">
            <a:off x="11062985" y="1449070"/>
            <a:ext cx="7118020" cy="1012190"/>
          </a:xfrm>
          <a:prstGeom prst="rect">
            <a:avLst/>
          </a:prstGeom>
        </p:spPr>
        <p:txBody>
          <a:bodyPr anchor="t" rtlCol="false" tIns="0" lIns="0" bIns="0" rIns="0">
            <a:spAutoFit/>
          </a:bodyPr>
          <a:lstStyle/>
          <a:p>
            <a:pPr algn="l">
              <a:lnSpc>
                <a:spcPts val="4059"/>
              </a:lnSpc>
            </a:pPr>
            <a:r>
              <a:rPr lang="en-US" sz="2899" spc="-57" u="sng">
                <a:solidFill>
                  <a:srgbClr val="000000"/>
                </a:solidFill>
                <a:latin typeface="TAN Mon Cheri"/>
                <a:ea typeface="TAN Mon Cheri"/>
                <a:cs typeface="TAN Mon Cheri"/>
                <a:sym typeface="TAN Mon Cheri"/>
              </a:rPr>
              <a:t>ENGAGING AND INTERACTIVE PLATFORM :</a:t>
            </a:r>
          </a:p>
        </p:txBody>
      </p:sp>
      <p:sp>
        <p:nvSpPr>
          <p:cNvPr name="TextBox 23" id="23"/>
          <p:cNvSpPr txBox="true"/>
          <p:nvPr/>
        </p:nvSpPr>
        <p:spPr>
          <a:xfrm rot="0">
            <a:off x="4259474" y="1449070"/>
            <a:ext cx="5315602" cy="1012190"/>
          </a:xfrm>
          <a:prstGeom prst="rect">
            <a:avLst/>
          </a:prstGeom>
        </p:spPr>
        <p:txBody>
          <a:bodyPr anchor="t" rtlCol="false" tIns="0" lIns="0" bIns="0" rIns="0">
            <a:spAutoFit/>
          </a:bodyPr>
          <a:lstStyle/>
          <a:p>
            <a:pPr algn="l">
              <a:lnSpc>
                <a:spcPts val="4059"/>
              </a:lnSpc>
            </a:pPr>
            <a:r>
              <a:rPr lang="en-US" sz="2899" spc="-57" u="sng">
                <a:solidFill>
                  <a:srgbClr val="000000"/>
                </a:solidFill>
                <a:latin typeface="TAN Mon Cheri"/>
                <a:ea typeface="TAN Mon Cheri"/>
                <a:cs typeface="TAN Mon Cheri"/>
                <a:sym typeface="TAN Mon Cheri"/>
              </a:rPr>
              <a:t>AI-DRIVEN TREND GENERATION SYSTEM :</a:t>
            </a:r>
          </a:p>
        </p:txBody>
      </p:sp>
      <p:sp>
        <p:nvSpPr>
          <p:cNvPr name="TextBox 24" id="24"/>
          <p:cNvSpPr txBox="true"/>
          <p:nvPr/>
        </p:nvSpPr>
        <p:spPr>
          <a:xfrm rot="0">
            <a:off x="4259474" y="3112788"/>
            <a:ext cx="6490492"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Reduction in Overproduction and Waste</a:t>
            </a:r>
          </a:p>
        </p:txBody>
      </p:sp>
      <p:sp>
        <p:nvSpPr>
          <p:cNvPr name="TextBox 25" id="25"/>
          <p:cNvSpPr txBox="true"/>
          <p:nvPr/>
        </p:nvSpPr>
        <p:spPr>
          <a:xfrm rot="0">
            <a:off x="4259474" y="3744613"/>
            <a:ext cx="5559650"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Faster Response to Market Changes</a:t>
            </a:r>
          </a:p>
        </p:txBody>
      </p:sp>
      <p:sp>
        <p:nvSpPr>
          <p:cNvPr name="TextBox 26" id="26"/>
          <p:cNvSpPr txBox="true"/>
          <p:nvPr/>
        </p:nvSpPr>
        <p:spPr>
          <a:xfrm rot="0">
            <a:off x="4259474" y="4376437"/>
            <a:ext cx="5559650"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Innovation in Design</a:t>
            </a:r>
          </a:p>
        </p:txBody>
      </p:sp>
      <p:sp>
        <p:nvSpPr>
          <p:cNvPr name="TextBox 27" id="27"/>
          <p:cNvSpPr txBox="true"/>
          <p:nvPr/>
        </p:nvSpPr>
        <p:spPr>
          <a:xfrm rot="0">
            <a:off x="4259474" y="5011881"/>
            <a:ext cx="5559650"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Enhanced Customer Satisfaction</a:t>
            </a:r>
          </a:p>
        </p:txBody>
      </p:sp>
      <p:sp>
        <p:nvSpPr>
          <p:cNvPr name="TextBox 28" id="28"/>
          <p:cNvSpPr txBox="true"/>
          <p:nvPr/>
        </p:nvSpPr>
        <p:spPr>
          <a:xfrm rot="0">
            <a:off x="11569806" y="3112788"/>
            <a:ext cx="5559650"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Increased User Engagement</a:t>
            </a:r>
          </a:p>
        </p:txBody>
      </p:sp>
      <p:sp>
        <p:nvSpPr>
          <p:cNvPr name="TextBox 29" id="29"/>
          <p:cNvSpPr txBox="true"/>
          <p:nvPr/>
        </p:nvSpPr>
        <p:spPr>
          <a:xfrm rot="0">
            <a:off x="11569806" y="3744613"/>
            <a:ext cx="5559650"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Improved Customer Retention</a:t>
            </a:r>
          </a:p>
        </p:txBody>
      </p:sp>
      <p:sp>
        <p:nvSpPr>
          <p:cNvPr name="TextBox 30" id="30"/>
          <p:cNvSpPr txBox="true"/>
          <p:nvPr/>
        </p:nvSpPr>
        <p:spPr>
          <a:xfrm rot="0">
            <a:off x="11569806" y="4376437"/>
            <a:ext cx="6104379"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Enhanced Social Shopping Experience</a:t>
            </a:r>
          </a:p>
        </p:txBody>
      </p:sp>
      <p:sp>
        <p:nvSpPr>
          <p:cNvPr name="TextBox 31" id="31"/>
          <p:cNvSpPr txBox="true"/>
          <p:nvPr/>
        </p:nvSpPr>
        <p:spPr>
          <a:xfrm rot="0">
            <a:off x="11569806" y="5011881"/>
            <a:ext cx="5559650" cy="438784"/>
          </a:xfrm>
          <a:prstGeom prst="rect">
            <a:avLst/>
          </a:prstGeom>
        </p:spPr>
        <p:txBody>
          <a:bodyPr anchor="t" rtlCol="false" tIns="0" lIns="0" bIns="0" rIns="0">
            <a:spAutoFit/>
          </a:bodyPr>
          <a:lstStyle/>
          <a:p>
            <a:pPr algn="l">
              <a:lnSpc>
                <a:spcPts val="3640"/>
              </a:lnSpc>
            </a:pPr>
            <a:r>
              <a:rPr lang="en-US" sz="2600">
                <a:solidFill>
                  <a:srgbClr val="000000"/>
                </a:solidFill>
                <a:latin typeface="DM Sans"/>
                <a:ea typeface="DM Sans"/>
                <a:cs typeface="DM Sans"/>
                <a:sym typeface="DM Sans"/>
              </a:rPr>
              <a:t>Positive Brand Perception</a:t>
            </a:r>
          </a:p>
        </p:txBody>
      </p:sp>
      <p:sp>
        <p:nvSpPr>
          <p:cNvPr name="TextBox 32" id="32"/>
          <p:cNvSpPr txBox="true"/>
          <p:nvPr/>
        </p:nvSpPr>
        <p:spPr>
          <a:xfrm rot="0">
            <a:off x="4432008" y="6279023"/>
            <a:ext cx="11130001" cy="2360294"/>
          </a:xfrm>
          <a:prstGeom prst="rect">
            <a:avLst/>
          </a:prstGeom>
        </p:spPr>
        <p:txBody>
          <a:bodyPr anchor="t" rtlCol="false" tIns="0" lIns="0" bIns="0" rIns="0">
            <a:spAutoFit/>
          </a:bodyPr>
          <a:lstStyle/>
          <a:p>
            <a:pPr algn="l">
              <a:lnSpc>
                <a:spcPts val="3780"/>
              </a:lnSpc>
            </a:pPr>
            <a:r>
              <a:rPr lang="en-US" sz="2700">
                <a:solidFill>
                  <a:srgbClr val="000000"/>
                </a:solidFill>
                <a:latin typeface="DM Sans"/>
                <a:ea typeface="DM Sans"/>
                <a:cs typeface="DM Sans"/>
                <a:sym typeface="DM Sans"/>
              </a:rPr>
              <a:t>These are technically and operationally feasible solutions because of very less initial investment and the ROI being high. All the data is easily available from fashion retailers and social media platforms. These considerations will help the platform to stay competitive and meet the demands of modern consumers.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7FF"/>
        </a:solidFill>
      </p:bgPr>
    </p:bg>
    <p:spTree>
      <p:nvGrpSpPr>
        <p:cNvPr id="1" name=""/>
        <p:cNvGrpSpPr/>
        <p:nvPr/>
      </p:nvGrpSpPr>
      <p:grpSpPr>
        <a:xfrm>
          <a:off x="0" y="0"/>
          <a:ext cx="0" cy="0"/>
          <a:chOff x="0" y="0"/>
          <a:chExt cx="0" cy="0"/>
        </a:xfrm>
      </p:grpSpPr>
      <p:grpSp>
        <p:nvGrpSpPr>
          <p:cNvPr name="Group 2" id="2"/>
          <p:cNvGrpSpPr/>
          <p:nvPr/>
        </p:nvGrpSpPr>
        <p:grpSpPr>
          <a:xfrm rot="0">
            <a:off x="11521678" y="-672375"/>
            <a:ext cx="7324605" cy="9930675"/>
            <a:chOff x="0" y="0"/>
            <a:chExt cx="1929114" cy="2615486"/>
          </a:xfrm>
        </p:grpSpPr>
        <p:sp>
          <p:nvSpPr>
            <p:cNvPr name="Freeform 3" id="3"/>
            <p:cNvSpPr/>
            <p:nvPr/>
          </p:nvSpPr>
          <p:spPr>
            <a:xfrm flipH="false" flipV="false" rot="0">
              <a:off x="0" y="0"/>
              <a:ext cx="1929114" cy="2615486"/>
            </a:xfrm>
            <a:custGeom>
              <a:avLst/>
              <a:gdLst/>
              <a:ahLst/>
              <a:cxnLst/>
              <a:rect r="r" b="b" t="t" l="l"/>
              <a:pathLst>
                <a:path h="2615486" w="1929114">
                  <a:moveTo>
                    <a:pt x="0" y="0"/>
                  </a:moveTo>
                  <a:lnTo>
                    <a:pt x="1929114" y="0"/>
                  </a:lnTo>
                  <a:lnTo>
                    <a:pt x="1929114" y="2615486"/>
                  </a:lnTo>
                  <a:lnTo>
                    <a:pt x="0" y="2615486"/>
                  </a:lnTo>
                  <a:close/>
                </a:path>
              </a:pathLst>
            </a:custGeom>
            <a:solidFill>
              <a:srgbClr val="CB6CE6"/>
            </a:solidFill>
          </p:spPr>
        </p:sp>
        <p:sp>
          <p:nvSpPr>
            <p:cNvPr name="TextBox 4" id="4"/>
            <p:cNvSpPr txBox="true"/>
            <p:nvPr/>
          </p:nvSpPr>
          <p:spPr>
            <a:xfrm>
              <a:off x="0" y="-47625"/>
              <a:ext cx="1929114" cy="2663111"/>
            </a:xfrm>
            <a:prstGeom prst="rect">
              <a:avLst/>
            </a:prstGeom>
          </p:spPr>
          <p:txBody>
            <a:bodyPr anchor="ctr" rtlCol="false" tIns="50800" lIns="50800" bIns="50800" rIns="50800"/>
            <a:lstStyle/>
            <a:p>
              <a:pPr algn="ctr">
                <a:lnSpc>
                  <a:spcPts val="3219"/>
                </a:lnSpc>
              </a:pPr>
            </a:p>
          </p:txBody>
        </p:sp>
      </p:grpSp>
      <p:sp>
        <p:nvSpPr>
          <p:cNvPr name="AutoShape 5" id="5"/>
          <p:cNvSpPr/>
          <p:nvPr/>
        </p:nvSpPr>
        <p:spPr>
          <a:xfrm>
            <a:off x="6494618" y="1378075"/>
            <a:ext cx="3903429" cy="0"/>
          </a:xfrm>
          <a:prstGeom prst="line">
            <a:avLst/>
          </a:prstGeom>
          <a:ln cap="flat" w="38100">
            <a:solidFill>
              <a:srgbClr val="000000"/>
            </a:solidFill>
            <a:prstDash val="solid"/>
            <a:headEnd type="none" len="sm" w="sm"/>
            <a:tailEnd type="triangle" len="med" w="lg"/>
          </a:ln>
        </p:spPr>
      </p:sp>
      <p:sp>
        <p:nvSpPr>
          <p:cNvPr name="AutoShape 6" id="6"/>
          <p:cNvSpPr/>
          <p:nvPr/>
        </p:nvSpPr>
        <p:spPr>
          <a:xfrm>
            <a:off x="5531768" y="9884684"/>
            <a:ext cx="962851" cy="0"/>
          </a:xfrm>
          <a:prstGeom prst="line">
            <a:avLst/>
          </a:prstGeom>
          <a:ln cap="flat" w="19050">
            <a:solidFill>
              <a:srgbClr val="000000"/>
            </a:solidFill>
            <a:prstDash val="solid"/>
            <a:headEnd type="none" len="sm" w="sm"/>
            <a:tailEnd type="none" len="sm" w="sm"/>
          </a:ln>
        </p:spPr>
      </p:sp>
      <p:sp>
        <p:nvSpPr>
          <p:cNvPr name="Freeform 7" id="7"/>
          <p:cNvSpPr/>
          <p:nvPr/>
        </p:nvSpPr>
        <p:spPr>
          <a:xfrm flipH="false" flipV="false" rot="0">
            <a:off x="10911646" y="1747018"/>
            <a:ext cx="6792963" cy="6792963"/>
          </a:xfrm>
          <a:custGeom>
            <a:avLst/>
            <a:gdLst/>
            <a:ahLst/>
            <a:cxnLst/>
            <a:rect r="r" b="b" t="t" l="l"/>
            <a:pathLst>
              <a:path h="6792963" w="6792963">
                <a:moveTo>
                  <a:pt x="0" y="0"/>
                </a:moveTo>
                <a:lnTo>
                  <a:pt x="6792963" y="0"/>
                </a:lnTo>
                <a:lnTo>
                  <a:pt x="6792963" y="6792964"/>
                </a:lnTo>
                <a:lnTo>
                  <a:pt x="0" y="6792964"/>
                </a:lnTo>
                <a:lnTo>
                  <a:pt x="0" y="0"/>
                </a:lnTo>
                <a:close/>
              </a:path>
            </a:pathLst>
          </a:custGeom>
          <a:blipFill>
            <a:blip r:embed="rId2"/>
            <a:stretch>
              <a:fillRect l="0" t="0" r="0" b="0"/>
            </a:stretch>
          </a:blipFill>
        </p:spPr>
      </p:sp>
      <p:sp>
        <p:nvSpPr>
          <p:cNvPr name="TextBox 8" id="8"/>
          <p:cNvSpPr txBox="true"/>
          <p:nvPr/>
        </p:nvSpPr>
        <p:spPr>
          <a:xfrm rot="0">
            <a:off x="382607" y="432943"/>
            <a:ext cx="11139070" cy="1823589"/>
          </a:xfrm>
          <a:prstGeom prst="rect">
            <a:avLst/>
          </a:prstGeom>
        </p:spPr>
        <p:txBody>
          <a:bodyPr anchor="t" rtlCol="false" tIns="0" lIns="0" bIns="0" rIns="0">
            <a:spAutoFit/>
          </a:bodyPr>
          <a:lstStyle/>
          <a:p>
            <a:pPr algn="l" marL="0" indent="0" lvl="0">
              <a:lnSpc>
                <a:spcPts val="7325"/>
              </a:lnSpc>
            </a:pPr>
            <a:r>
              <a:rPr lang="en-US" sz="5507">
                <a:solidFill>
                  <a:srgbClr val="000000"/>
                </a:solidFill>
                <a:latin typeface="TAN Mon Cheri"/>
                <a:ea typeface="TAN Mon Cheri"/>
                <a:cs typeface="TAN Mon Cheri"/>
                <a:sym typeface="TAN Mon Cheri"/>
              </a:rPr>
              <a:t>WHERE TO FIT IN MYNTRA APP</a:t>
            </a:r>
          </a:p>
        </p:txBody>
      </p:sp>
      <p:sp>
        <p:nvSpPr>
          <p:cNvPr name="TextBox 9" id="9"/>
          <p:cNvSpPr txBox="true"/>
          <p:nvPr/>
        </p:nvSpPr>
        <p:spPr>
          <a:xfrm rot="0">
            <a:off x="1028700" y="2524487"/>
            <a:ext cx="9764269" cy="3927475"/>
          </a:xfrm>
          <a:prstGeom prst="rect">
            <a:avLst/>
          </a:prstGeom>
        </p:spPr>
        <p:txBody>
          <a:bodyPr anchor="t" rtlCol="false" tIns="0" lIns="0" bIns="0" rIns="0">
            <a:spAutoFit/>
          </a:bodyPr>
          <a:lstStyle/>
          <a:p>
            <a:pPr algn="l">
              <a:lnSpc>
                <a:spcPts val="3499"/>
              </a:lnSpc>
            </a:pPr>
            <a:r>
              <a:rPr lang="en-US" sz="2499" spc="24">
                <a:solidFill>
                  <a:srgbClr val="000000"/>
                </a:solidFill>
                <a:latin typeface="DM Sans"/>
                <a:ea typeface="DM Sans"/>
                <a:cs typeface="DM Sans"/>
                <a:sym typeface="DM Sans"/>
              </a:rPr>
              <a:t>To integrate the creating new trends feature, on the Home Page, add a new section for dressing up the model, including user reviews and challenges. Clicking on challenges will lead users to the Model Dress-Up page, where they can mix and match outfits available on Myntra.</a:t>
            </a:r>
          </a:p>
          <a:p>
            <a:pPr algn="l">
              <a:lnSpc>
                <a:spcPts val="3499"/>
              </a:lnSpc>
            </a:pPr>
            <a:r>
              <a:rPr lang="en-US" sz="2499" spc="24">
                <a:solidFill>
                  <a:srgbClr val="000000"/>
                </a:solidFill>
                <a:latin typeface="DM Sans"/>
                <a:ea typeface="DM Sans"/>
                <a:cs typeface="DM Sans"/>
                <a:sym typeface="DM Sans"/>
              </a:rPr>
              <a:t>After creating their style, users can post their outfits on the already existing Community Page, share their creations and participate in polls. New features like polls and challenges in the community enhance interaction and gather valuable feedback.</a:t>
            </a:r>
          </a:p>
        </p:txBody>
      </p:sp>
      <p:sp>
        <p:nvSpPr>
          <p:cNvPr name="TextBox 10" id="10"/>
          <p:cNvSpPr txBox="true"/>
          <p:nvPr/>
        </p:nvSpPr>
        <p:spPr>
          <a:xfrm rot="0">
            <a:off x="1028700" y="6842487"/>
            <a:ext cx="9764269" cy="2613025"/>
          </a:xfrm>
          <a:prstGeom prst="rect">
            <a:avLst/>
          </a:prstGeom>
        </p:spPr>
        <p:txBody>
          <a:bodyPr anchor="t" rtlCol="false" tIns="0" lIns="0" bIns="0" rIns="0">
            <a:spAutoFit/>
          </a:bodyPr>
          <a:lstStyle/>
          <a:p>
            <a:pPr algn="l">
              <a:lnSpc>
                <a:spcPts val="3499"/>
              </a:lnSpc>
            </a:pPr>
            <a:r>
              <a:rPr lang="en-US" sz="2499" spc="24">
                <a:solidFill>
                  <a:srgbClr val="000000"/>
                </a:solidFill>
                <a:latin typeface="DM Sans"/>
                <a:ea typeface="DM Sans"/>
                <a:cs typeface="DM Sans"/>
                <a:sym typeface="DM Sans"/>
              </a:rPr>
              <a:t>The trend prediction model can be integrated using API in the backend logic using libraries like requests in Python or http in Node.js. The predictions can be directly shown on the home page with links to the selected outfits. Regular monitoring and maintenance are crucial to ensure the model remains effective and scales with user demand.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DAGJT95Q25o</dc:identifier>
  <dcterms:modified xsi:type="dcterms:W3CDTF">2011-08-01T06:04:30Z</dcterms:modified>
  <cp:revision>1</cp:revision>
  <dc:title>Gray Simple Elegant Company Profile Presentation</dc:title>
</cp:coreProperties>
</file>